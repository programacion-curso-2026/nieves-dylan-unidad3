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61" r:id="rId5"/>
    <p:sldId id="262" r:id="rId6"/>
    <p:sldId id="260" r:id="rId7"/>
  </p:sldIdLst>
  <p:sldSz cx="12204700" cy="6858000"/>
  <p:notesSz cx="12204700" cy="11201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A81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21" autoAdjust="0"/>
    <p:restoredTop sz="94660"/>
  </p:normalViewPr>
  <p:slideViewPr>
    <p:cSldViewPr>
      <p:cViewPr>
        <p:scale>
          <a:sx n="70" d="100"/>
          <a:sy n="70" d="100"/>
        </p:scale>
        <p:origin x="726"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5352" y="2129917"/>
            <a:ext cx="10373995" cy="1442847"/>
          </a:xfrm>
          <a:prstGeom prst="rect">
            <a:avLst/>
          </a:prstGeom>
        </p:spPr>
        <p:txBody>
          <a:bodyPr wrap="square" lIns="0" tIns="0" rIns="0" bIns="0">
            <a:spAutoFit/>
          </a:bodyPr>
          <a:lstStyle>
            <a:lvl1pPr>
              <a:defRPr sz="3900" b="1" i="0">
                <a:solidFill>
                  <a:schemeClr val="bg1"/>
                </a:solidFill>
                <a:latin typeface="Times New Roman"/>
                <a:cs typeface="Times New Roman"/>
              </a:defRPr>
            </a:lvl1pPr>
          </a:lstStyle>
          <a:p>
            <a:endParaRPr/>
          </a:p>
        </p:txBody>
      </p:sp>
      <p:sp>
        <p:nvSpPr>
          <p:cNvPr id="3" name="Holder 3"/>
          <p:cNvSpPr>
            <a:spLocks noGrp="1"/>
          </p:cNvSpPr>
          <p:nvPr>
            <p:ph type="subTitle" idx="4"/>
          </p:nvPr>
        </p:nvSpPr>
        <p:spPr>
          <a:xfrm>
            <a:off x="1830705" y="3847592"/>
            <a:ext cx="8543290" cy="1717675"/>
          </a:xfrm>
          <a:prstGeom prst="rect">
            <a:avLst/>
          </a:prstGeom>
        </p:spPr>
        <p:txBody>
          <a:bodyPr wrap="square" lIns="0" tIns="0" rIns="0" bIns="0">
            <a:spAutoFit/>
          </a:bodyPr>
          <a:lstStyle>
            <a:lvl1pPr>
              <a:defRPr sz="1950" b="1" i="0">
                <a:solidFill>
                  <a:srgbClr val="A7D9DB"/>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00" b="1"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950" b="1" i="0">
                <a:solidFill>
                  <a:srgbClr val="A7D9DB"/>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00" b="1"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1130300" y="1588135"/>
            <a:ext cx="5260975" cy="4554855"/>
          </a:xfrm>
          <a:prstGeom prst="rect">
            <a:avLst/>
          </a:prstGeom>
        </p:spPr>
        <p:txBody>
          <a:bodyPr wrap="square" lIns="0" tIns="0" rIns="0" bIns="0">
            <a:spAutoFit/>
          </a:bodyPr>
          <a:lstStyle>
            <a:lvl1pPr>
              <a:defRPr sz="1800" b="1" i="0">
                <a:solidFill>
                  <a:srgbClr val="A7D9DB"/>
                </a:solidFill>
                <a:latin typeface="Times New Roman"/>
                <a:cs typeface="Times New Roman"/>
              </a:defRPr>
            </a:lvl1pPr>
          </a:lstStyle>
          <a:p>
            <a:endParaRPr/>
          </a:p>
        </p:txBody>
      </p:sp>
      <p:sp>
        <p:nvSpPr>
          <p:cNvPr id="4" name="Holder 4"/>
          <p:cNvSpPr>
            <a:spLocks noGrp="1"/>
          </p:cNvSpPr>
          <p:nvPr>
            <p:ph sz="half" idx="3"/>
          </p:nvPr>
        </p:nvSpPr>
        <p:spPr>
          <a:xfrm>
            <a:off x="6285420" y="1580261"/>
            <a:ext cx="5309044" cy="453466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524" y="0"/>
            <a:ext cx="12192000" cy="6858000"/>
          </a:xfrm>
          <a:custGeom>
            <a:avLst/>
            <a:gdLst/>
            <a:ahLst/>
            <a:cxnLst/>
            <a:rect l="l" t="t" r="r" b="b"/>
            <a:pathLst>
              <a:path w="12192000" h="6858000">
                <a:moveTo>
                  <a:pt x="12191999" y="6857999"/>
                </a:moveTo>
                <a:lnTo>
                  <a:pt x="0" y="6857999"/>
                </a:lnTo>
                <a:lnTo>
                  <a:pt x="0" y="0"/>
                </a:lnTo>
                <a:lnTo>
                  <a:pt x="12191999" y="0"/>
                </a:lnTo>
                <a:lnTo>
                  <a:pt x="12191999" y="6857999"/>
                </a:lnTo>
                <a:close/>
              </a:path>
            </a:pathLst>
          </a:custGeom>
          <a:solidFill>
            <a:srgbClr val="3B6978"/>
          </a:solidFill>
        </p:spPr>
        <p:txBody>
          <a:bodyPr wrap="square" lIns="0" tIns="0" rIns="0" bIns="0" rtlCol="0"/>
          <a:lstStyle/>
          <a:p>
            <a:endParaRPr/>
          </a:p>
        </p:txBody>
      </p:sp>
      <p:sp>
        <p:nvSpPr>
          <p:cNvPr id="17" name="bg object 17"/>
          <p:cNvSpPr/>
          <p:nvPr/>
        </p:nvSpPr>
        <p:spPr>
          <a:xfrm>
            <a:off x="9525" y="0"/>
            <a:ext cx="3810000" cy="3810000"/>
          </a:xfrm>
          <a:custGeom>
            <a:avLst/>
            <a:gdLst/>
            <a:ahLst/>
            <a:cxnLst/>
            <a:rect l="l" t="t" r="r" b="b"/>
            <a:pathLst>
              <a:path w="3810000" h="3810000">
                <a:moveTo>
                  <a:pt x="1047749" y="3809999"/>
                </a:moveTo>
                <a:lnTo>
                  <a:pt x="979960" y="3809167"/>
                </a:lnTo>
                <a:lnTo>
                  <a:pt x="912212" y="3806672"/>
                </a:lnTo>
                <a:lnTo>
                  <a:pt x="844546" y="3802515"/>
                </a:lnTo>
                <a:lnTo>
                  <a:pt x="777002" y="3796698"/>
                </a:lnTo>
                <a:lnTo>
                  <a:pt x="709619" y="3789226"/>
                </a:lnTo>
                <a:lnTo>
                  <a:pt x="642439" y="3780102"/>
                </a:lnTo>
                <a:lnTo>
                  <a:pt x="575509" y="3769332"/>
                </a:lnTo>
                <a:lnTo>
                  <a:pt x="508860" y="3756923"/>
                </a:lnTo>
                <a:lnTo>
                  <a:pt x="442536" y="3742882"/>
                </a:lnTo>
                <a:lnTo>
                  <a:pt x="376577" y="3727218"/>
                </a:lnTo>
                <a:lnTo>
                  <a:pt x="311022" y="3709939"/>
                </a:lnTo>
                <a:lnTo>
                  <a:pt x="245911" y="3691057"/>
                </a:lnTo>
                <a:lnTo>
                  <a:pt x="181282" y="3670583"/>
                </a:lnTo>
                <a:lnTo>
                  <a:pt x="117176" y="3648529"/>
                </a:lnTo>
                <a:lnTo>
                  <a:pt x="53629" y="3624908"/>
                </a:lnTo>
                <a:lnTo>
                  <a:pt x="0" y="3603527"/>
                </a:lnTo>
                <a:lnTo>
                  <a:pt x="0" y="0"/>
                </a:lnTo>
                <a:lnTo>
                  <a:pt x="3603528" y="0"/>
                </a:lnTo>
                <a:lnTo>
                  <a:pt x="3624908" y="53629"/>
                </a:lnTo>
                <a:lnTo>
                  <a:pt x="3648529" y="117175"/>
                </a:lnTo>
                <a:lnTo>
                  <a:pt x="3670583" y="181282"/>
                </a:lnTo>
                <a:lnTo>
                  <a:pt x="3691058" y="245911"/>
                </a:lnTo>
                <a:lnTo>
                  <a:pt x="3709940" y="311022"/>
                </a:lnTo>
                <a:lnTo>
                  <a:pt x="3727218" y="376577"/>
                </a:lnTo>
                <a:lnTo>
                  <a:pt x="3742882" y="442537"/>
                </a:lnTo>
                <a:lnTo>
                  <a:pt x="3756923" y="508861"/>
                </a:lnTo>
                <a:lnTo>
                  <a:pt x="3769332" y="575510"/>
                </a:lnTo>
                <a:lnTo>
                  <a:pt x="3780102" y="642443"/>
                </a:lnTo>
                <a:lnTo>
                  <a:pt x="3789226" y="709620"/>
                </a:lnTo>
                <a:lnTo>
                  <a:pt x="3796698" y="777002"/>
                </a:lnTo>
                <a:lnTo>
                  <a:pt x="3802515" y="844546"/>
                </a:lnTo>
                <a:lnTo>
                  <a:pt x="3806672" y="912212"/>
                </a:lnTo>
                <a:lnTo>
                  <a:pt x="3809167" y="979960"/>
                </a:lnTo>
                <a:lnTo>
                  <a:pt x="3809999" y="1047749"/>
                </a:lnTo>
                <a:lnTo>
                  <a:pt x="3809791" y="1081649"/>
                </a:lnTo>
                <a:lnTo>
                  <a:pt x="3808128" y="1149418"/>
                </a:lnTo>
                <a:lnTo>
                  <a:pt x="3804801" y="1217135"/>
                </a:lnTo>
                <a:lnTo>
                  <a:pt x="3799814" y="1284740"/>
                </a:lnTo>
                <a:lnTo>
                  <a:pt x="3793169" y="1352213"/>
                </a:lnTo>
                <a:lnTo>
                  <a:pt x="3784870" y="1419492"/>
                </a:lnTo>
                <a:lnTo>
                  <a:pt x="3774922" y="1486558"/>
                </a:lnTo>
                <a:lnTo>
                  <a:pt x="3763333" y="1553349"/>
                </a:lnTo>
                <a:lnTo>
                  <a:pt x="3750106" y="1619845"/>
                </a:lnTo>
                <a:lnTo>
                  <a:pt x="3735253" y="1685987"/>
                </a:lnTo>
                <a:lnTo>
                  <a:pt x="3718779" y="1751754"/>
                </a:lnTo>
                <a:lnTo>
                  <a:pt x="3700699" y="1817088"/>
                </a:lnTo>
                <a:lnTo>
                  <a:pt x="3681018" y="1881967"/>
                </a:lnTo>
                <a:lnTo>
                  <a:pt x="3659754" y="1946335"/>
                </a:lnTo>
                <a:lnTo>
                  <a:pt x="3636913" y="2010171"/>
                </a:lnTo>
                <a:lnTo>
                  <a:pt x="3612516" y="2073417"/>
                </a:lnTo>
                <a:lnTo>
                  <a:pt x="3586570" y="2136056"/>
                </a:lnTo>
                <a:lnTo>
                  <a:pt x="3559099" y="2198029"/>
                </a:lnTo>
                <a:lnTo>
                  <a:pt x="3530111" y="2259319"/>
                </a:lnTo>
                <a:lnTo>
                  <a:pt x="3499632" y="2319870"/>
                </a:lnTo>
                <a:lnTo>
                  <a:pt x="3467672" y="2379664"/>
                </a:lnTo>
                <a:lnTo>
                  <a:pt x="3434259" y="2438646"/>
                </a:lnTo>
                <a:lnTo>
                  <a:pt x="3399403" y="2496799"/>
                </a:lnTo>
                <a:lnTo>
                  <a:pt x="3363136" y="2554071"/>
                </a:lnTo>
                <a:lnTo>
                  <a:pt x="3325469" y="2610444"/>
                </a:lnTo>
                <a:lnTo>
                  <a:pt x="3286436" y="2665867"/>
                </a:lnTo>
                <a:lnTo>
                  <a:pt x="3246048" y="2720324"/>
                </a:lnTo>
                <a:lnTo>
                  <a:pt x="3204342" y="2773765"/>
                </a:lnTo>
                <a:lnTo>
                  <a:pt x="3161331" y="2826174"/>
                </a:lnTo>
                <a:lnTo>
                  <a:pt x="3117053" y="2877505"/>
                </a:lnTo>
                <a:lnTo>
                  <a:pt x="3071522" y="2927741"/>
                </a:lnTo>
                <a:lnTo>
                  <a:pt x="3024778" y="2976837"/>
                </a:lnTo>
                <a:lnTo>
                  <a:pt x="2976837" y="3024778"/>
                </a:lnTo>
                <a:lnTo>
                  <a:pt x="2927741" y="3071522"/>
                </a:lnTo>
                <a:lnTo>
                  <a:pt x="2877505" y="3117053"/>
                </a:lnTo>
                <a:lnTo>
                  <a:pt x="2826175" y="3161331"/>
                </a:lnTo>
                <a:lnTo>
                  <a:pt x="2773765" y="3204342"/>
                </a:lnTo>
                <a:lnTo>
                  <a:pt x="2720324" y="3246048"/>
                </a:lnTo>
                <a:lnTo>
                  <a:pt x="2665867" y="3286436"/>
                </a:lnTo>
                <a:lnTo>
                  <a:pt x="2610444" y="3325469"/>
                </a:lnTo>
                <a:lnTo>
                  <a:pt x="2554071" y="3363136"/>
                </a:lnTo>
                <a:lnTo>
                  <a:pt x="2496799" y="3399403"/>
                </a:lnTo>
                <a:lnTo>
                  <a:pt x="2438646" y="3434259"/>
                </a:lnTo>
                <a:lnTo>
                  <a:pt x="2379664" y="3467672"/>
                </a:lnTo>
                <a:lnTo>
                  <a:pt x="2319870" y="3499633"/>
                </a:lnTo>
                <a:lnTo>
                  <a:pt x="2259319" y="3530111"/>
                </a:lnTo>
                <a:lnTo>
                  <a:pt x="2198029" y="3559099"/>
                </a:lnTo>
                <a:lnTo>
                  <a:pt x="2136056" y="3586570"/>
                </a:lnTo>
                <a:lnTo>
                  <a:pt x="2073418" y="3612515"/>
                </a:lnTo>
                <a:lnTo>
                  <a:pt x="2010172" y="3636912"/>
                </a:lnTo>
                <a:lnTo>
                  <a:pt x="1946336" y="3659753"/>
                </a:lnTo>
                <a:lnTo>
                  <a:pt x="1881968" y="3681018"/>
                </a:lnTo>
                <a:lnTo>
                  <a:pt x="1817088" y="3700699"/>
                </a:lnTo>
                <a:lnTo>
                  <a:pt x="1751754" y="3718779"/>
                </a:lnTo>
                <a:lnTo>
                  <a:pt x="1685987" y="3735253"/>
                </a:lnTo>
                <a:lnTo>
                  <a:pt x="1619845" y="3750105"/>
                </a:lnTo>
                <a:lnTo>
                  <a:pt x="1553349" y="3763332"/>
                </a:lnTo>
                <a:lnTo>
                  <a:pt x="1486558" y="3774922"/>
                </a:lnTo>
                <a:lnTo>
                  <a:pt x="1419492" y="3784870"/>
                </a:lnTo>
                <a:lnTo>
                  <a:pt x="1352213" y="3793168"/>
                </a:lnTo>
                <a:lnTo>
                  <a:pt x="1284740" y="3799814"/>
                </a:lnTo>
                <a:lnTo>
                  <a:pt x="1217135" y="3804801"/>
                </a:lnTo>
                <a:lnTo>
                  <a:pt x="1149418" y="3808127"/>
                </a:lnTo>
                <a:lnTo>
                  <a:pt x="1081649" y="3809791"/>
                </a:lnTo>
                <a:lnTo>
                  <a:pt x="1047749" y="3809999"/>
                </a:lnTo>
                <a:close/>
              </a:path>
            </a:pathLst>
          </a:custGeom>
          <a:solidFill>
            <a:srgbClr val="204050"/>
          </a:solidFill>
        </p:spPr>
        <p:txBody>
          <a:bodyPr wrap="square" lIns="0" tIns="0" rIns="0" bIns="0" rtlCol="0"/>
          <a:lstStyle/>
          <a:p>
            <a:endParaRPr/>
          </a:p>
        </p:txBody>
      </p:sp>
      <p:sp>
        <p:nvSpPr>
          <p:cNvPr id="18" name="bg object 18"/>
          <p:cNvSpPr/>
          <p:nvPr/>
        </p:nvSpPr>
        <p:spPr>
          <a:xfrm>
            <a:off x="9058274" y="3714749"/>
            <a:ext cx="3143250" cy="3143250"/>
          </a:xfrm>
          <a:custGeom>
            <a:avLst/>
            <a:gdLst/>
            <a:ahLst/>
            <a:cxnLst/>
            <a:rect l="l" t="t" r="r" b="b"/>
            <a:pathLst>
              <a:path w="3143250" h="3143250">
                <a:moveTo>
                  <a:pt x="3143250" y="3143250"/>
                </a:moveTo>
                <a:lnTo>
                  <a:pt x="26443" y="3143250"/>
                </a:lnTo>
                <a:lnTo>
                  <a:pt x="25128" y="3133992"/>
                </a:lnTo>
                <a:lnTo>
                  <a:pt x="16830" y="3066713"/>
                </a:lnTo>
                <a:lnTo>
                  <a:pt x="10185" y="2999240"/>
                </a:lnTo>
                <a:lnTo>
                  <a:pt x="5198" y="2931635"/>
                </a:lnTo>
                <a:lnTo>
                  <a:pt x="1871" y="2863917"/>
                </a:lnTo>
                <a:lnTo>
                  <a:pt x="207" y="2796149"/>
                </a:lnTo>
                <a:lnTo>
                  <a:pt x="0" y="2762249"/>
                </a:lnTo>
                <a:lnTo>
                  <a:pt x="207" y="2728349"/>
                </a:lnTo>
                <a:lnTo>
                  <a:pt x="1871" y="2660580"/>
                </a:lnTo>
                <a:lnTo>
                  <a:pt x="5198" y="2592863"/>
                </a:lnTo>
                <a:lnTo>
                  <a:pt x="10185" y="2525258"/>
                </a:lnTo>
                <a:lnTo>
                  <a:pt x="16830" y="2457785"/>
                </a:lnTo>
                <a:lnTo>
                  <a:pt x="25129" y="2390506"/>
                </a:lnTo>
                <a:lnTo>
                  <a:pt x="35077" y="2323441"/>
                </a:lnTo>
                <a:lnTo>
                  <a:pt x="46665" y="2256649"/>
                </a:lnTo>
                <a:lnTo>
                  <a:pt x="59892" y="2190153"/>
                </a:lnTo>
                <a:lnTo>
                  <a:pt x="74745" y="2124011"/>
                </a:lnTo>
                <a:lnTo>
                  <a:pt x="91219" y="2058243"/>
                </a:lnTo>
                <a:lnTo>
                  <a:pt x="109299" y="1992911"/>
                </a:lnTo>
                <a:lnTo>
                  <a:pt x="128980" y="1928031"/>
                </a:lnTo>
                <a:lnTo>
                  <a:pt x="150244" y="1863663"/>
                </a:lnTo>
                <a:lnTo>
                  <a:pt x="173085" y="1799827"/>
                </a:lnTo>
                <a:lnTo>
                  <a:pt x="197482" y="1736580"/>
                </a:lnTo>
                <a:lnTo>
                  <a:pt x="223427" y="1673942"/>
                </a:lnTo>
                <a:lnTo>
                  <a:pt x="250898" y="1611968"/>
                </a:lnTo>
                <a:lnTo>
                  <a:pt x="279886" y="1550679"/>
                </a:lnTo>
                <a:lnTo>
                  <a:pt x="310365" y="1490128"/>
                </a:lnTo>
                <a:lnTo>
                  <a:pt x="342325" y="1430335"/>
                </a:lnTo>
                <a:lnTo>
                  <a:pt x="375739" y="1371352"/>
                </a:lnTo>
                <a:lnTo>
                  <a:pt x="410594" y="1313199"/>
                </a:lnTo>
                <a:lnTo>
                  <a:pt x="446861" y="1255927"/>
                </a:lnTo>
                <a:lnTo>
                  <a:pt x="484528" y="1199554"/>
                </a:lnTo>
                <a:lnTo>
                  <a:pt x="523562" y="1144131"/>
                </a:lnTo>
                <a:lnTo>
                  <a:pt x="563950" y="1089674"/>
                </a:lnTo>
                <a:lnTo>
                  <a:pt x="605656" y="1036233"/>
                </a:lnTo>
                <a:lnTo>
                  <a:pt x="648668" y="983823"/>
                </a:lnTo>
                <a:lnTo>
                  <a:pt x="692945" y="932493"/>
                </a:lnTo>
                <a:lnTo>
                  <a:pt x="738476" y="882257"/>
                </a:lnTo>
                <a:lnTo>
                  <a:pt x="785220" y="833161"/>
                </a:lnTo>
                <a:lnTo>
                  <a:pt x="833161" y="785220"/>
                </a:lnTo>
                <a:lnTo>
                  <a:pt x="882256" y="738477"/>
                </a:lnTo>
                <a:lnTo>
                  <a:pt x="932492" y="692946"/>
                </a:lnTo>
                <a:lnTo>
                  <a:pt x="983824" y="648668"/>
                </a:lnTo>
                <a:lnTo>
                  <a:pt x="1036233" y="605656"/>
                </a:lnTo>
                <a:lnTo>
                  <a:pt x="1089674" y="563950"/>
                </a:lnTo>
                <a:lnTo>
                  <a:pt x="1144130" y="523562"/>
                </a:lnTo>
                <a:lnTo>
                  <a:pt x="1199553" y="484529"/>
                </a:lnTo>
                <a:lnTo>
                  <a:pt x="1255926" y="446861"/>
                </a:lnTo>
                <a:lnTo>
                  <a:pt x="1313198" y="410595"/>
                </a:lnTo>
                <a:lnTo>
                  <a:pt x="1371351" y="375739"/>
                </a:lnTo>
                <a:lnTo>
                  <a:pt x="1430333" y="342326"/>
                </a:lnTo>
                <a:lnTo>
                  <a:pt x="1490127" y="310366"/>
                </a:lnTo>
                <a:lnTo>
                  <a:pt x="1550677" y="279887"/>
                </a:lnTo>
                <a:lnTo>
                  <a:pt x="1611967" y="250899"/>
                </a:lnTo>
                <a:lnTo>
                  <a:pt x="1673941" y="223428"/>
                </a:lnTo>
                <a:lnTo>
                  <a:pt x="1736578" y="197482"/>
                </a:lnTo>
                <a:lnTo>
                  <a:pt x="1799825" y="173085"/>
                </a:lnTo>
                <a:lnTo>
                  <a:pt x="1863662" y="150245"/>
                </a:lnTo>
                <a:lnTo>
                  <a:pt x="1928029" y="128981"/>
                </a:lnTo>
                <a:lnTo>
                  <a:pt x="1992909" y="109299"/>
                </a:lnTo>
                <a:lnTo>
                  <a:pt x="2058242" y="91219"/>
                </a:lnTo>
                <a:lnTo>
                  <a:pt x="2124010" y="74745"/>
                </a:lnTo>
                <a:lnTo>
                  <a:pt x="2190151" y="59893"/>
                </a:lnTo>
                <a:lnTo>
                  <a:pt x="2256648" y="46666"/>
                </a:lnTo>
                <a:lnTo>
                  <a:pt x="2323440" y="35076"/>
                </a:lnTo>
                <a:lnTo>
                  <a:pt x="2390506" y="25128"/>
                </a:lnTo>
                <a:lnTo>
                  <a:pt x="2457786" y="16830"/>
                </a:lnTo>
                <a:lnTo>
                  <a:pt x="2525258" y="10185"/>
                </a:lnTo>
                <a:lnTo>
                  <a:pt x="2592863" y="5198"/>
                </a:lnTo>
                <a:lnTo>
                  <a:pt x="2660580" y="1871"/>
                </a:lnTo>
                <a:lnTo>
                  <a:pt x="2728349" y="207"/>
                </a:lnTo>
                <a:lnTo>
                  <a:pt x="2762249" y="0"/>
                </a:lnTo>
                <a:lnTo>
                  <a:pt x="2796139" y="207"/>
                </a:lnTo>
                <a:lnTo>
                  <a:pt x="2863908" y="1871"/>
                </a:lnTo>
                <a:lnTo>
                  <a:pt x="2931630" y="5198"/>
                </a:lnTo>
                <a:lnTo>
                  <a:pt x="2999237" y="10185"/>
                </a:lnTo>
                <a:lnTo>
                  <a:pt x="3066713" y="16830"/>
                </a:lnTo>
                <a:lnTo>
                  <a:pt x="3133992" y="25128"/>
                </a:lnTo>
                <a:lnTo>
                  <a:pt x="3143250" y="26443"/>
                </a:lnTo>
                <a:lnTo>
                  <a:pt x="3143250" y="3143250"/>
                </a:lnTo>
                <a:close/>
              </a:path>
            </a:pathLst>
          </a:custGeom>
          <a:solidFill>
            <a:srgbClr val="204050"/>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900" b="1"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654049" y="415925"/>
            <a:ext cx="10896600" cy="619760"/>
          </a:xfrm>
          <a:prstGeom prst="rect">
            <a:avLst/>
          </a:prstGeom>
        </p:spPr>
        <p:txBody>
          <a:bodyPr wrap="square" lIns="0" tIns="0" rIns="0" bIns="0">
            <a:spAutoFit/>
          </a:bodyPr>
          <a:lstStyle>
            <a:lvl1pPr>
              <a:defRPr sz="3900" b="1"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571499" y="1628774"/>
            <a:ext cx="5381625" cy="3638550"/>
          </a:xfrm>
          <a:prstGeom prst="rect">
            <a:avLst/>
          </a:prstGeom>
        </p:spPr>
        <p:txBody>
          <a:bodyPr wrap="square" lIns="0" tIns="0" rIns="0" bIns="0">
            <a:spAutoFit/>
          </a:bodyPr>
          <a:lstStyle>
            <a:lvl1pPr>
              <a:defRPr sz="1950" b="1" i="0">
                <a:solidFill>
                  <a:srgbClr val="A7D9DB"/>
                </a:solidFill>
                <a:latin typeface="Times New Roman"/>
                <a:cs typeface="Times New Roman"/>
              </a:defRPr>
            </a:lvl1pPr>
          </a:lstStyle>
          <a:p>
            <a:endParaRPr/>
          </a:p>
        </p:txBody>
      </p:sp>
      <p:sp>
        <p:nvSpPr>
          <p:cNvPr id="4" name="Holder 4"/>
          <p:cNvSpPr>
            <a:spLocks noGrp="1"/>
          </p:cNvSpPr>
          <p:nvPr>
            <p:ph type="ftr" sz="quarter" idx="5"/>
          </p:nvPr>
        </p:nvSpPr>
        <p:spPr>
          <a:xfrm>
            <a:off x="4149598" y="6389751"/>
            <a:ext cx="3905504" cy="34353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10235" y="6389751"/>
            <a:ext cx="2807081" cy="34353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8/11/2026</a:t>
            </a:fld>
            <a:endParaRPr lang="en-US"/>
          </a:p>
        </p:txBody>
      </p:sp>
      <p:sp>
        <p:nvSpPr>
          <p:cNvPr id="6" name="Holder 6"/>
          <p:cNvSpPr>
            <a:spLocks noGrp="1"/>
          </p:cNvSpPr>
          <p:nvPr>
            <p:ph type="sldNum" sz="quarter" idx="7"/>
          </p:nvPr>
        </p:nvSpPr>
        <p:spPr>
          <a:xfrm>
            <a:off x="8787384" y="6389751"/>
            <a:ext cx="2807081" cy="34353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517700" y="1754879"/>
            <a:ext cx="9390013" cy="1367041"/>
          </a:xfrm>
          <a:prstGeom prst="rect">
            <a:avLst/>
          </a:prstGeom>
        </p:spPr>
        <p:txBody>
          <a:bodyPr vert="horz" wrap="square" lIns="0" tIns="12700" rIns="0" bIns="0" rtlCol="0">
            <a:spAutoFit/>
          </a:bodyPr>
          <a:lstStyle/>
          <a:p>
            <a:pPr marL="2688590" marR="5080" indent="-2676525" algn="ctr">
              <a:lnSpc>
                <a:spcPct val="100000"/>
              </a:lnSpc>
              <a:spcBef>
                <a:spcPts val="100"/>
              </a:spcBef>
              <a:tabLst>
                <a:tab pos="8130540" algn="l"/>
              </a:tabLst>
            </a:pPr>
            <a:r>
              <a:rPr lang="es-ES" sz="8800" b="0" spc="-25" dirty="0">
                <a:solidFill>
                  <a:schemeClr val="tx1"/>
                </a:solidFill>
                <a:latin typeface="Times New Roman" panose="02020603050405020304" pitchFamily="18" charset="0"/>
                <a:cs typeface="Times New Roman" panose="02020603050405020304" pitchFamily="18" charset="0"/>
              </a:rPr>
              <a:t>PROGRAMACION</a:t>
            </a:r>
            <a:endParaRPr sz="5250" dirty="0">
              <a:latin typeface="Times New Roman"/>
              <a:cs typeface="Times New Roman"/>
            </a:endParaRPr>
          </a:p>
        </p:txBody>
      </p:sp>
      <p:sp>
        <p:nvSpPr>
          <p:cNvPr id="4" name="object 4"/>
          <p:cNvSpPr txBox="1"/>
          <p:nvPr/>
        </p:nvSpPr>
        <p:spPr>
          <a:xfrm>
            <a:off x="8388350" y="4419600"/>
            <a:ext cx="5038726" cy="1354217"/>
          </a:xfrm>
          <a:prstGeom prst="rect">
            <a:avLst/>
          </a:prstGeom>
        </p:spPr>
        <p:txBody>
          <a:bodyPr vert="horz" wrap="square" lIns="0" tIns="12700" rIns="0" bIns="0" rtlCol="0">
            <a:spAutoFit/>
          </a:bodyPr>
          <a:lstStyle/>
          <a:p>
            <a:pPr marL="12700">
              <a:lnSpc>
                <a:spcPct val="100000"/>
              </a:lnSpc>
              <a:spcBef>
                <a:spcPts val="100"/>
              </a:spcBef>
            </a:pPr>
            <a:r>
              <a:rPr lang="es-ES" sz="2400" b="1" dirty="0">
                <a:solidFill>
                  <a:schemeClr val="tx1"/>
                </a:solidFill>
                <a:latin typeface="Times New Roman" panose="02020603050405020304" pitchFamily="18" charset="0"/>
                <a:cs typeface="Times New Roman" panose="02020603050405020304" pitchFamily="18" charset="0"/>
              </a:rPr>
              <a:t>Integrantes del grupo: </a:t>
            </a:r>
          </a:p>
          <a:p>
            <a:pPr marL="355600" indent="-342900">
              <a:spcBef>
                <a:spcPts val="100"/>
              </a:spcBef>
              <a:buFont typeface="Arial" panose="020B0604020202020204" pitchFamily="34" charset="0"/>
              <a:buChar char="•"/>
            </a:pPr>
            <a:r>
              <a:rPr lang="es-ES" sz="2400" b="1" dirty="0">
                <a:solidFill>
                  <a:schemeClr val="tx1"/>
                </a:solidFill>
                <a:latin typeface="Times New Roman" panose="02020603050405020304" pitchFamily="18" charset="0"/>
                <a:cs typeface="Times New Roman" panose="02020603050405020304" pitchFamily="18" charset="0"/>
              </a:rPr>
              <a:t>DYLAN NIEVEZ</a:t>
            </a:r>
          </a:p>
          <a:p>
            <a:pPr marL="355600" indent="-342900">
              <a:spcBef>
                <a:spcPts val="100"/>
              </a:spcBef>
              <a:buFont typeface="Arial" panose="020B0604020202020204" pitchFamily="34" charset="0"/>
              <a:buChar char="•"/>
            </a:pPr>
            <a:r>
              <a:rPr lang="es-ES" sz="2400" b="1" dirty="0">
                <a:solidFill>
                  <a:schemeClr val="tx1"/>
                </a:solidFill>
                <a:latin typeface="Times New Roman" panose="02020603050405020304" pitchFamily="18" charset="0"/>
                <a:cs typeface="Times New Roman" panose="02020603050405020304" pitchFamily="18" charset="0"/>
              </a:rPr>
              <a:t>ANGELO REYES </a:t>
            </a:r>
            <a:endParaRPr lang="es-ES" sz="2400" b="1" dirty="0">
              <a:solidFill>
                <a:schemeClr val="tx1"/>
              </a:solidFill>
              <a:latin typeface="Arial"/>
              <a:cs typeface="Arial"/>
            </a:endParaRPr>
          </a:p>
          <a:p>
            <a:pPr marL="298450" indent="-285750">
              <a:lnSpc>
                <a:spcPct val="100000"/>
              </a:lnSpc>
              <a:spcBef>
                <a:spcPts val="100"/>
              </a:spcBef>
              <a:buFont typeface="Arial" panose="020B0604020202020204" pitchFamily="34" charset="0"/>
              <a:buChar char="•"/>
            </a:pPr>
            <a:endParaRPr sz="1350" dirty="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520950" y="144251"/>
            <a:ext cx="8000999" cy="612988"/>
          </a:xfrm>
          <a:prstGeom prst="rect">
            <a:avLst/>
          </a:prstGeom>
        </p:spPr>
        <p:txBody>
          <a:bodyPr vert="horz" wrap="square" lIns="0" tIns="12700" rIns="0" bIns="0" rtlCol="0">
            <a:spAutoFit/>
          </a:bodyPr>
          <a:lstStyle/>
          <a:p>
            <a:pPr marL="12700" algn="l">
              <a:lnSpc>
                <a:spcPct val="100000"/>
              </a:lnSpc>
              <a:spcBef>
                <a:spcPts val="100"/>
              </a:spcBef>
            </a:pPr>
            <a:r>
              <a:rPr spc="110" dirty="0">
                <a:solidFill>
                  <a:schemeClr val="tx1"/>
                </a:solidFill>
                <a:latin typeface="Arial"/>
                <a:cs typeface="Arial"/>
              </a:rPr>
              <a:t>TABLA</a:t>
            </a:r>
            <a:r>
              <a:rPr spc="235" dirty="0">
                <a:solidFill>
                  <a:schemeClr val="tx1"/>
                </a:solidFill>
                <a:latin typeface="Arial"/>
                <a:cs typeface="Arial"/>
              </a:rPr>
              <a:t> </a:t>
            </a:r>
            <a:r>
              <a:rPr spc="110" dirty="0">
                <a:solidFill>
                  <a:schemeClr val="tx1"/>
                </a:solidFill>
                <a:latin typeface="Arial"/>
                <a:cs typeface="Arial"/>
              </a:rPr>
              <a:t>DE</a:t>
            </a:r>
            <a:r>
              <a:rPr spc="459" dirty="0">
                <a:solidFill>
                  <a:schemeClr val="tx1"/>
                </a:solidFill>
                <a:latin typeface="Arial"/>
                <a:cs typeface="Arial"/>
              </a:rPr>
              <a:t> </a:t>
            </a:r>
            <a:r>
              <a:rPr spc="180" dirty="0">
                <a:solidFill>
                  <a:schemeClr val="tx1"/>
                </a:solidFill>
                <a:latin typeface="Arial"/>
                <a:cs typeface="Arial"/>
              </a:rPr>
              <a:t>CONTENIDOS</a:t>
            </a:r>
          </a:p>
        </p:txBody>
      </p:sp>
      <p:sp>
        <p:nvSpPr>
          <p:cNvPr id="4" name="object 4"/>
          <p:cNvSpPr txBox="1"/>
          <p:nvPr/>
        </p:nvSpPr>
        <p:spPr>
          <a:xfrm>
            <a:off x="1929129" y="912097"/>
            <a:ext cx="7831119" cy="443711"/>
          </a:xfrm>
          <a:prstGeom prst="rect">
            <a:avLst/>
          </a:prstGeom>
        </p:spPr>
        <p:txBody>
          <a:bodyPr vert="horz" wrap="square" lIns="0" tIns="12700" rIns="0" bIns="0" rtlCol="0">
            <a:spAutoFit/>
          </a:bodyPr>
          <a:lstStyle/>
          <a:p>
            <a:pPr marL="12700" algn="ctr">
              <a:lnSpc>
                <a:spcPct val="100000"/>
              </a:lnSpc>
              <a:spcBef>
                <a:spcPts val="100"/>
              </a:spcBef>
            </a:pPr>
            <a:r>
              <a:rPr lang="es-EC" sz="2800" b="1" i="0" dirty="0">
                <a:solidFill>
                  <a:srgbClr val="273540"/>
                </a:solidFill>
                <a:effectLst/>
                <a:latin typeface="LatoWeb"/>
              </a:rPr>
              <a:t>Investigación </a:t>
            </a:r>
            <a:r>
              <a:rPr lang="es-EC" sz="2800" b="1" i="0" dirty="0" err="1">
                <a:solidFill>
                  <a:srgbClr val="273540"/>
                </a:solidFill>
                <a:effectLst/>
                <a:latin typeface="LatoWeb"/>
              </a:rPr>
              <a:t>Numpy</a:t>
            </a:r>
            <a:endParaRPr lang="es-ES" sz="2800" b="1" dirty="0">
              <a:solidFill>
                <a:schemeClr val="tx1"/>
              </a:solidFill>
              <a:latin typeface="Times New Roman" panose="02020603050405020304" pitchFamily="18" charset="0"/>
              <a:cs typeface="Times New Roman" panose="02020603050405020304" pitchFamily="18" charset="0"/>
            </a:endParaRPr>
          </a:p>
        </p:txBody>
      </p:sp>
      <p:sp>
        <p:nvSpPr>
          <p:cNvPr id="5" name="object 5"/>
          <p:cNvSpPr/>
          <p:nvPr/>
        </p:nvSpPr>
        <p:spPr>
          <a:xfrm>
            <a:off x="857249" y="2305049"/>
            <a:ext cx="3000375" cy="9525"/>
          </a:xfrm>
          <a:custGeom>
            <a:avLst/>
            <a:gdLst/>
            <a:ahLst/>
            <a:cxnLst/>
            <a:rect l="l" t="t" r="r" b="b"/>
            <a:pathLst>
              <a:path w="3000375" h="9525">
                <a:moveTo>
                  <a:pt x="3000374" y="9524"/>
                </a:moveTo>
                <a:lnTo>
                  <a:pt x="0" y="9524"/>
                </a:lnTo>
                <a:lnTo>
                  <a:pt x="0" y="0"/>
                </a:lnTo>
                <a:lnTo>
                  <a:pt x="3000374" y="0"/>
                </a:lnTo>
                <a:lnTo>
                  <a:pt x="3000374" y="9524"/>
                </a:lnTo>
                <a:close/>
              </a:path>
            </a:pathLst>
          </a:custGeom>
          <a:solidFill>
            <a:srgbClr val="FFFFFF">
              <a:alpha val="39999"/>
            </a:srgbClr>
          </a:solidFill>
        </p:spPr>
        <p:txBody>
          <a:bodyPr wrap="square" lIns="0" tIns="0" rIns="0" bIns="0" rtlCol="0"/>
          <a:lstStyle/>
          <a:p>
            <a:endParaRPr/>
          </a:p>
        </p:txBody>
      </p:sp>
      <p:sp>
        <p:nvSpPr>
          <p:cNvPr id="7" name="object 7"/>
          <p:cNvSpPr/>
          <p:nvPr/>
        </p:nvSpPr>
        <p:spPr>
          <a:xfrm>
            <a:off x="857249" y="2686049"/>
            <a:ext cx="3000375" cy="9525"/>
          </a:xfrm>
          <a:custGeom>
            <a:avLst/>
            <a:gdLst/>
            <a:ahLst/>
            <a:cxnLst/>
            <a:rect l="l" t="t" r="r" b="b"/>
            <a:pathLst>
              <a:path w="3000375" h="9525">
                <a:moveTo>
                  <a:pt x="3000374" y="9524"/>
                </a:moveTo>
                <a:lnTo>
                  <a:pt x="0" y="9524"/>
                </a:lnTo>
                <a:lnTo>
                  <a:pt x="0" y="0"/>
                </a:lnTo>
                <a:lnTo>
                  <a:pt x="3000374" y="0"/>
                </a:lnTo>
                <a:lnTo>
                  <a:pt x="3000374" y="9524"/>
                </a:lnTo>
                <a:close/>
              </a:path>
            </a:pathLst>
          </a:custGeom>
          <a:solidFill>
            <a:srgbClr val="FFFFFF">
              <a:alpha val="39999"/>
            </a:srgbClr>
          </a:solidFill>
        </p:spPr>
        <p:txBody>
          <a:bodyPr wrap="square" lIns="0" tIns="0" rIns="0" bIns="0" rtlCol="0"/>
          <a:lstStyle/>
          <a:p>
            <a:endParaRPr/>
          </a:p>
        </p:txBody>
      </p:sp>
      <p:sp>
        <p:nvSpPr>
          <p:cNvPr id="8" name="object 8"/>
          <p:cNvSpPr txBox="1"/>
          <p:nvPr/>
        </p:nvSpPr>
        <p:spPr>
          <a:xfrm>
            <a:off x="889951" y="2754312"/>
            <a:ext cx="5212399" cy="293029"/>
          </a:xfrm>
          <a:prstGeom prst="rect">
            <a:avLst/>
          </a:prstGeom>
        </p:spPr>
        <p:txBody>
          <a:bodyPr vert="horz" wrap="square" lIns="0" tIns="15875" rIns="0" bIns="0" rtlCol="0">
            <a:spAutoFit/>
          </a:bodyPr>
          <a:lstStyle/>
          <a:p>
            <a:pPr marL="12700">
              <a:lnSpc>
                <a:spcPct val="100000"/>
              </a:lnSpc>
              <a:spcBef>
                <a:spcPts val="125"/>
              </a:spcBef>
            </a:pPr>
            <a:r>
              <a:rPr lang="es-EC" b="1" i="0" dirty="0">
                <a:solidFill>
                  <a:srgbClr val="273540"/>
                </a:solidFill>
                <a:effectLst/>
                <a:latin typeface="LatoWeb"/>
              </a:rPr>
              <a:t>¿Cómo se utiliza / implementa?</a:t>
            </a:r>
            <a:endParaRPr lang="es-ES" b="1" dirty="0">
              <a:solidFill>
                <a:schemeClr val="tx1"/>
              </a:solidFill>
              <a:latin typeface="Times New Roman" panose="02020603050405020304" pitchFamily="18" charset="0"/>
              <a:cs typeface="Times New Roman" panose="02020603050405020304" pitchFamily="18" charset="0"/>
            </a:endParaRPr>
          </a:p>
        </p:txBody>
      </p:sp>
      <p:sp>
        <p:nvSpPr>
          <p:cNvPr id="9" name="object 9"/>
          <p:cNvSpPr/>
          <p:nvPr/>
        </p:nvSpPr>
        <p:spPr>
          <a:xfrm>
            <a:off x="857249" y="3076574"/>
            <a:ext cx="3000375" cy="9525"/>
          </a:xfrm>
          <a:custGeom>
            <a:avLst/>
            <a:gdLst/>
            <a:ahLst/>
            <a:cxnLst/>
            <a:rect l="l" t="t" r="r" b="b"/>
            <a:pathLst>
              <a:path w="3000375" h="9525">
                <a:moveTo>
                  <a:pt x="3000374" y="9524"/>
                </a:moveTo>
                <a:lnTo>
                  <a:pt x="0" y="9524"/>
                </a:lnTo>
                <a:lnTo>
                  <a:pt x="0" y="0"/>
                </a:lnTo>
                <a:lnTo>
                  <a:pt x="3000374" y="0"/>
                </a:lnTo>
                <a:lnTo>
                  <a:pt x="3000374" y="9524"/>
                </a:lnTo>
                <a:close/>
              </a:path>
            </a:pathLst>
          </a:custGeom>
          <a:solidFill>
            <a:srgbClr val="FFFFFF">
              <a:alpha val="39999"/>
            </a:srgbClr>
          </a:solidFill>
        </p:spPr>
        <p:txBody>
          <a:bodyPr wrap="square" lIns="0" tIns="0" rIns="0" bIns="0" rtlCol="0"/>
          <a:lstStyle/>
          <a:p>
            <a:endParaRPr/>
          </a:p>
        </p:txBody>
      </p:sp>
      <p:sp>
        <p:nvSpPr>
          <p:cNvPr id="11" name="object 11"/>
          <p:cNvSpPr/>
          <p:nvPr/>
        </p:nvSpPr>
        <p:spPr>
          <a:xfrm>
            <a:off x="857249" y="3457574"/>
            <a:ext cx="3000375" cy="9525"/>
          </a:xfrm>
          <a:custGeom>
            <a:avLst/>
            <a:gdLst/>
            <a:ahLst/>
            <a:cxnLst/>
            <a:rect l="l" t="t" r="r" b="b"/>
            <a:pathLst>
              <a:path w="3000375" h="9525">
                <a:moveTo>
                  <a:pt x="3000374" y="9524"/>
                </a:moveTo>
                <a:lnTo>
                  <a:pt x="0" y="9524"/>
                </a:lnTo>
                <a:lnTo>
                  <a:pt x="0" y="0"/>
                </a:lnTo>
                <a:lnTo>
                  <a:pt x="3000374" y="0"/>
                </a:lnTo>
                <a:lnTo>
                  <a:pt x="3000374" y="9524"/>
                </a:lnTo>
                <a:close/>
              </a:path>
            </a:pathLst>
          </a:custGeom>
          <a:solidFill>
            <a:srgbClr val="FFFFFF">
              <a:alpha val="39999"/>
            </a:srgbClr>
          </a:solidFill>
        </p:spPr>
        <p:txBody>
          <a:bodyPr wrap="square" lIns="0" tIns="0" rIns="0" bIns="0" rtlCol="0"/>
          <a:lstStyle/>
          <a:p>
            <a:endParaRPr/>
          </a:p>
        </p:txBody>
      </p:sp>
      <p:sp>
        <p:nvSpPr>
          <p:cNvPr id="13" name="object 13"/>
          <p:cNvSpPr txBox="1"/>
          <p:nvPr/>
        </p:nvSpPr>
        <p:spPr>
          <a:xfrm>
            <a:off x="473075" y="1848485"/>
            <a:ext cx="259079" cy="1961434"/>
          </a:xfrm>
          <a:prstGeom prst="rect">
            <a:avLst/>
          </a:prstGeom>
        </p:spPr>
        <p:txBody>
          <a:bodyPr vert="horz" wrap="square" lIns="0" tIns="151765" rIns="0" bIns="0" rtlCol="0">
            <a:spAutoFit/>
          </a:bodyPr>
          <a:lstStyle/>
          <a:p>
            <a:pPr marL="12700">
              <a:lnSpc>
                <a:spcPct val="100000"/>
              </a:lnSpc>
              <a:spcBef>
                <a:spcPts val="1195"/>
              </a:spcBef>
            </a:pPr>
            <a:r>
              <a:rPr sz="1650" spc="-25" dirty="0">
                <a:solidFill>
                  <a:schemeClr val="tx1"/>
                </a:solidFill>
                <a:latin typeface="Arial"/>
                <a:cs typeface="Arial"/>
              </a:rPr>
              <a:t>01</a:t>
            </a:r>
            <a:endParaRPr sz="1650" dirty="0">
              <a:solidFill>
                <a:schemeClr val="tx1"/>
              </a:solidFill>
              <a:latin typeface="Arial"/>
              <a:cs typeface="Arial"/>
            </a:endParaRPr>
          </a:p>
          <a:p>
            <a:pPr marL="12700">
              <a:lnSpc>
                <a:spcPct val="100000"/>
              </a:lnSpc>
              <a:spcBef>
                <a:spcPts val="1095"/>
              </a:spcBef>
            </a:pPr>
            <a:r>
              <a:rPr sz="1650" spc="-25" dirty="0">
                <a:solidFill>
                  <a:schemeClr val="tx1"/>
                </a:solidFill>
                <a:latin typeface="Arial"/>
                <a:cs typeface="Arial"/>
              </a:rPr>
              <a:t>02</a:t>
            </a:r>
            <a:endParaRPr sz="1650" dirty="0">
              <a:solidFill>
                <a:schemeClr val="tx1"/>
              </a:solidFill>
              <a:latin typeface="Arial"/>
              <a:cs typeface="Arial"/>
            </a:endParaRPr>
          </a:p>
          <a:p>
            <a:pPr marL="12700">
              <a:lnSpc>
                <a:spcPct val="100000"/>
              </a:lnSpc>
              <a:spcBef>
                <a:spcPts val="1019"/>
              </a:spcBef>
            </a:pPr>
            <a:r>
              <a:rPr sz="1650" spc="-25" dirty="0">
                <a:solidFill>
                  <a:schemeClr val="tx1"/>
                </a:solidFill>
                <a:latin typeface="Arial"/>
                <a:cs typeface="Arial"/>
              </a:rPr>
              <a:t>03</a:t>
            </a:r>
            <a:endParaRPr lang="es-ES" sz="1650" spc="-25" dirty="0">
              <a:solidFill>
                <a:schemeClr val="tx1"/>
              </a:solidFill>
              <a:latin typeface="Arial"/>
              <a:cs typeface="Arial"/>
            </a:endParaRPr>
          </a:p>
          <a:p>
            <a:pPr marL="12700">
              <a:lnSpc>
                <a:spcPct val="100000"/>
              </a:lnSpc>
              <a:spcBef>
                <a:spcPts val="1019"/>
              </a:spcBef>
            </a:pPr>
            <a:r>
              <a:rPr lang="es-EC" sz="1650" spc="-25" dirty="0">
                <a:solidFill>
                  <a:schemeClr val="tx1"/>
                </a:solidFill>
                <a:latin typeface="Arial"/>
                <a:cs typeface="Arial"/>
              </a:rPr>
              <a:t>04</a:t>
            </a:r>
            <a:endParaRPr sz="1650" dirty="0">
              <a:solidFill>
                <a:schemeClr val="tx1"/>
              </a:solidFill>
              <a:latin typeface="Arial"/>
              <a:cs typeface="Arial"/>
            </a:endParaRPr>
          </a:p>
          <a:p>
            <a:pPr marL="12700">
              <a:lnSpc>
                <a:spcPct val="100000"/>
              </a:lnSpc>
              <a:spcBef>
                <a:spcPts val="1095"/>
              </a:spcBef>
            </a:pPr>
            <a:endParaRPr sz="1650" dirty="0">
              <a:solidFill>
                <a:schemeClr val="tx1"/>
              </a:solidFill>
              <a:latin typeface="Arial"/>
              <a:cs typeface="Arial"/>
            </a:endParaRPr>
          </a:p>
        </p:txBody>
      </p:sp>
      <p:sp>
        <p:nvSpPr>
          <p:cNvPr id="33" name="object 33"/>
          <p:cNvSpPr txBox="1"/>
          <p:nvPr/>
        </p:nvSpPr>
        <p:spPr>
          <a:xfrm>
            <a:off x="934570" y="2022474"/>
            <a:ext cx="3491380" cy="293029"/>
          </a:xfrm>
          <a:prstGeom prst="rect">
            <a:avLst/>
          </a:prstGeom>
        </p:spPr>
        <p:txBody>
          <a:bodyPr vert="horz" wrap="square" lIns="0" tIns="15875" rIns="0" bIns="0" rtlCol="0">
            <a:spAutoFit/>
          </a:bodyPr>
          <a:lstStyle/>
          <a:p>
            <a:pPr marL="12700">
              <a:lnSpc>
                <a:spcPct val="100000"/>
              </a:lnSpc>
              <a:spcBef>
                <a:spcPts val="125"/>
              </a:spcBef>
            </a:pPr>
            <a:r>
              <a:rPr lang="es-EC" i="0" dirty="0">
                <a:solidFill>
                  <a:schemeClr val="tx1"/>
                </a:solidFill>
                <a:effectLst/>
                <a:latin typeface="LatoWeb"/>
              </a:rPr>
              <a:t>¿</a:t>
            </a:r>
            <a:r>
              <a:rPr lang="es-EC" b="1" i="0" dirty="0">
                <a:solidFill>
                  <a:schemeClr val="tx1"/>
                </a:solidFill>
                <a:effectLst/>
                <a:latin typeface="LatoWeb"/>
              </a:rPr>
              <a:t>Qué es? </a:t>
            </a:r>
            <a:endParaRPr lang="es-ES" b="1" dirty="0">
              <a:solidFill>
                <a:schemeClr val="tx1"/>
              </a:solidFill>
              <a:latin typeface="Times New Roman" panose="02020603050405020304" pitchFamily="18" charset="0"/>
              <a:cs typeface="Times New Roman" panose="02020603050405020304" pitchFamily="18" charset="0"/>
            </a:endParaRPr>
          </a:p>
        </p:txBody>
      </p:sp>
      <p:pic>
        <p:nvPicPr>
          <p:cNvPr id="1030" name="Picture 6" descr="La librería Numpy | Aprende con Alf">
            <a:extLst>
              <a:ext uri="{FF2B5EF4-FFF2-40B4-BE49-F238E27FC236}">
                <a16:creationId xmlns:a16="http://schemas.microsoft.com/office/drawing/2014/main" id="{9BE87395-9F69-4C4F-9F21-974CB93B4E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2154" y="2430628"/>
            <a:ext cx="11344274" cy="5104924"/>
          </a:xfrm>
          <a:prstGeom prst="rect">
            <a:avLst/>
          </a:prstGeom>
          <a:noFill/>
          <a:extLst>
            <a:ext uri="{909E8E84-426E-40DD-AFC4-6F175D3DCCD1}">
              <a14:hiddenFill xmlns:a14="http://schemas.microsoft.com/office/drawing/2010/main">
                <a:solidFill>
                  <a:srgbClr val="FFFFFF"/>
                </a:solidFill>
              </a14:hiddenFill>
            </a:ext>
          </a:extLst>
        </p:spPr>
      </p:pic>
      <p:sp>
        <p:nvSpPr>
          <p:cNvPr id="37" name="object 33">
            <a:extLst>
              <a:ext uri="{FF2B5EF4-FFF2-40B4-BE49-F238E27FC236}">
                <a16:creationId xmlns:a16="http://schemas.microsoft.com/office/drawing/2014/main" id="{007461E8-29DF-4925-96AB-2261F2FA88FC}"/>
              </a:ext>
            </a:extLst>
          </p:cNvPr>
          <p:cNvSpPr txBox="1"/>
          <p:nvPr/>
        </p:nvSpPr>
        <p:spPr>
          <a:xfrm>
            <a:off x="923607" y="2374683"/>
            <a:ext cx="3349943" cy="293029"/>
          </a:xfrm>
          <a:prstGeom prst="rect">
            <a:avLst/>
          </a:prstGeom>
        </p:spPr>
        <p:txBody>
          <a:bodyPr vert="horz" wrap="square" lIns="0" tIns="15875" rIns="0" bIns="0" rtlCol="0">
            <a:spAutoFit/>
          </a:bodyPr>
          <a:lstStyle/>
          <a:p>
            <a:pPr marL="12700">
              <a:lnSpc>
                <a:spcPct val="100000"/>
              </a:lnSpc>
              <a:spcBef>
                <a:spcPts val="125"/>
              </a:spcBef>
            </a:pPr>
            <a:r>
              <a:rPr lang="es-EC" b="1" i="0" dirty="0">
                <a:solidFill>
                  <a:srgbClr val="273540"/>
                </a:solidFill>
                <a:effectLst/>
                <a:latin typeface="LatoWeb"/>
              </a:rPr>
              <a:t>¿Para qué sirve?</a:t>
            </a:r>
            <a:endParaRPr lang="es-ES" b="1" dirty="0">
              <a:solidFill>
                <a:schemeClr val="tx1"/>
              </a:solidFill>
              <a:latin typeface="Times New Roman" panose="02020603050405020304" pitchFamily="18" charset="0"/>
              <a:cs typeface="Times New Roman" panose="02020603050405020304" pitchFamily="18" charset="0"/>
            </a:endParaRPr>
          </a:p>
        </p:txBody>
      </p:sp>
      <p:sp>
        <p:nvSpPr>
          <p:cNvPr id="21" name="object 8">
            <a:extLst>
              <a:ext uri="{FF2B5EF4-FFF2-40B4-BE49-F238E27FC236}">
                <a16:creationId xmlns:a16="http://schemas.microsoft.com/office/drawing/2014/main" id="{4DAFC5C6-630E-4182-90C9-0F35FBCBC58F}"/>
              </a:ext>
            </a:extLst>
          </p:cNvPr>
          <p:cNvSpPr txBox="1"/>
          <p:nvPr/>
        </p:nvSpPr>
        <p:spPr>
          <a:xfrm>
            <a:off x="857249" y="3105943"/>
            <a:ext cx="5212399" cy="293029"/>
          </a:xfrm>
          <a:prstGeom prst="rect">
            <a:avLst/>
          </a:prstGeom>
        </p:spPr>
        <p:txBody>
          <a:bodyPr vert="horz" wrap="square" lIns="0" tIns="15875" rIns="0" bIns="0" rtlCol="0">
            <a:spAutoFit/>
          </a:bodyPr>
          <a:lstStyle/>
          <a:p>
            <a:pPr marL="12700">
              <a:lnSpc>
                <a:spcPct val="100000"/>
              </a:lnSpc>
              <a:spcBef>
                <a:spcPts val="125"/>
              </a:spcBef>
            </a:pPr>
            <a:r>
              <a:rPr lang="es-ES" b="1" i="0" dirty="0">
                <a:solidFill>
                  <a:srgbClr val="273540"/>
                </a:solidFill>
                <a:effectLst/>
                <a:latin typeface="LatoWeb"/>
              </a:rPr>
              <a:t>2 ejemplos de implementación aplicada</a:t>
            </a:r>
            <a:endParaRPr lang="es-ES"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938" y="0"/>
            <a:ext cx="12192000" cy="7248525"/>
          </a:xfrm>
          <a:custGeom>
            <a:avLst/>
            <a:gdLst/>
            <a:ahLst/>
            <a:cxnLst/>
            <a:rect l="l" t="t" r="r" b="b"/>
            <a:pathLst>
              <a:path w="12192000" h="7248525">
                <a:moveTo>
                  <a:pt x="12191999" y="7248524"/>
                </a:moveTo>
                <a:lnTo>
                  <a:pt x="0" y="7248524"/>
                </a:lnTo>
                <a:lnTo>
                  <a:pt x="0" y="0"/>
                </a:lnTo>
                <a:lnTo>
                  <a:pt x="12191999" y="0"/>
                </a:lnTo>
                <a:lnTo>
                  <a:pt x="12191999" y="7248524"/>
                </a:lnTo>
                <a:close/>
              </a:path>
            </a:pathLst>
          </a:custGeom>
          <a:solidFill>
            <a:srgbClr val="3B6978"/>
          </a:solidFill>
        </p:spPr>
        <p:txBody>
          <a:bodyPr wrap="square" lIns="0" tIns="0" rIns="0" bIns="0" rtlCol="0"/>
          <a:lstStyle/>
          <a:p>
            <a:endParaRPr dirty="0"/>
          </a:p>
        </p:txBody>
      </p:sp>
      <p:sp>
        <p:nvSpPr>
          <p:cNvPr id="3" name="Título 2">
            <a:extLst>
              <a:ext uri="{FF2B5EF4-FFF2-40B4-BE49-F238E27FC236}">
                <a16:creationId xmlns:a16="http://schemas.microsoft.com/office/drawing/2014/main" id="{EC9D8025-0E81-41EC-8A3F-89063CEF1464}"/>
              </a:ext>
            </a:extLst>
          </p:cNvPr>
          <p:cNvSpPr>
            <a:spLocks noGrp="1"/>
          </p:cNvSpPr>
          <p:nvPr>
            <p:ph type="title"/>
          </p:nvPr>
        </p:nvSpPr>
        <p:spPr>
          <a:xfrm>
            <a:off x="654049" y="415925"/>
            <a:ext cx="10896600" cy="1200329"/>
          </a:xfrm>
        </p:spPr>
        <p:txBody>
          <a:bodyPr/>
          <a:lstStyle/>
          <a:p>
            <a:pPr algn="ctr"/>
            <a:r>
              <a:rPr lang="es-EC" i="0" dirty="0">
                <a:solidFill>
                  <a:schemeClr val="tx1"/>
                </a:solidFill>
                <a:effectLst/>
                <a:latin typeface="LatoWeb"/>
              </a:rPr>
              <a:t>¿</a:t>
            </a:r>
            <a:r>
              <a:rPr lang="es-EC" b="1" i="0" dirty="0">
                <a:solidFill>
                  <a:schemeClr val="tx1"/>
                </a:solidFill>
                <a:effectLst/>
                <a:latin typeface="LatoWeb"/>
              </a:rPr>
              <a:t>Qué es? </a:t>
            </a:r>
            <a:br>
              <a:rPr lang="es-ES" b="1" dirty="0">
                <a:solidFill>
                  <a:schemeClr val="tx1"/>
                </a:solidFill>
                <a:latin typeface="Times New Roman" panose="02020603050405020304" pitchFamily="18" charset="0"/>
                <a:cs typeface="Times New Roman" panose="02020603050405020304" pitchFamily="18" charset="0"/>
              </a:rPr>
            </a:br>
            <a:endParaRPr lang="es-EC" dirty="0"/>
          </a:p>
        </p:txBody>
      </p:sp>
      <p:sp>
        <p:nvSpPr>
          <p:cNvPr id="5" name="object 5"/>
          <p:cNvSpPr txBox="1"/>
          <p:nvPr/>
        </p:nvSpPr>
        <p:spPr>
          <a:xfrm>
            <a:off x="749299" y="3044825"/>
            <a:ext cx="292100" cy="345440"/>
          </a:xfrm>
          <a:prstGeom prst="rect">
            <a:avLst/>
          </a:prstGeom>
        </p:spPr>
        <p:txBody>
          <a:bodyPr vert="horz" wrap="square" lIns="0" tIns="12700" rIns="0" bIns="0" rtlCol="0">
            <a:spAutoFit/>
          </a:bodyPr>
          <a:lstStyle/>
          <a:p>
            <a:pPr marL="12700">
              <a:lnSpc>
                <a:spcPct val="100000"/>
              </a:lnSpc>
              <a:spcBef>
                <a:spcPts val="100"/>
              </a:spcBef>
            </a:pPr>
            <a:r>
              <a:rPr sz="2100" spc="-50" dirty="0">
                <a:solidFill>
                  <a:srgbClr val="A7D9DB"/>
                </a:solidFill>
                <a:latin typeface="Century Gothic"/>
                <a:cs typeface="Century Gothic"/>
              </a:rPr>
              <a:t></a:t>
            </a:r>
            <a:endParaRPr sz="2100" dirty="0">
              <a:latin typeface="Century Gothic"/>
              <a:cs typeface="Century Gothic"/>
            </a:endParaRPr>
          </a:p>
        </p:txBody>
      </p:sp>
      <p:sp>
        <p:nvSpPr>
          <p:cNvPr id="6" name="object 6"/>
          <p:cNvSpPr txBox="1"/>
          <p:nvPr/>
        </p:nvSpPr>
        <p:spPr>
          <a:xfrm>
            <a:off x="953131" y="1995969"/>
            <a:ext cx="4511040" cy="689932"/>
          </a:xfrm>
          <a:prstGeom prst="rect">
            <a:avLst/>
          </a:prstGeom>
        </p:spPr>
        <p:txBody>
          <a:bodyPr vert="horz" wrap="square" lIns="0" tIns="12700" rIns="0" bIns="0" rtlCol="0">
            <a:spAutoFit/>
          </a:bodyPr>
          <a:lstStyle/>
          <a:p>
            <a:pPr algn="l"/>
            <a:r>
              <a:rPr lang="es-ES" sz="3200" b="1" i="0" dirty="0">
                <a:solidFill>
                  <a:srgbClr val="1F1F1F"/>
                </a:solidFill>
                <a:effectLst/>
                <a:latin typeface="Times New Roman" panose="02020603050405020304" pitchFamily="18" charset="0"/>
                <a:cs typeface="Times New Roman" panose="02020603050405020304" pitchFamily="18" charset="0"/>
              </a:rPr>
              <a:t>Numpy</a:t>
            </a:r>
          </a:p>
          <a:p>
            <a:pPr algn="l"/>
            <a:endParaRPr lang="es-ES" sz="1200" b="1" i="0" dirty="0">
              <a:solidFill>
                <a:srgbClr val="1F1F1F"/>
              </a:solidFill>
              <a:effectLst/>
              <a:latin typeface="Times New Roman" panose="02020603050405020304" pitchFamily="18" charset="0"/>
              <a:cs typeface="Times New Roman" panose="02020603050405020304" pitchFamily="18" charset="0"/>
            </a:endParaRPr>
          </a:p>
        </p:txBody>
      </p:sp>
      <p:sp>
        <p:nvSpPr>
          <p:cNvPr id="8" name="Rectangle 2">
            <a:extLst>
              <a:ext uri="{FF2B5EF4-FFF2-40B4-BE49-F238E27FC236}">
                <a16:creationId xmlns:a16="http://schemas.microsoft.com/office/drawing/2014/main" id="{98508BFB-0CD6-4333-863B-7A80C5C148E1}"/>
              </a:ext>
            </a:extLst>
          </p:cNvPr>
          <p:cNvSpPr>
            <a:spLocks noChangeArrowheads="1"/>
          </p:cNvSpPr>
          <p:nvPr/>
        </p:nvSpPr>
        <p:spPr bwMode="auto">
          <a:xfrm>
            <a:off x="0" y="0"/>
            <a:ext cx="122047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12" name="Rectangle 5">
            <a:extLst>
              <a:ext uri="{FF2B5EF4-FFF2-40B4-BE49-F238E27FC236}">
                <a16:creationId xmlns:a16="http://schemas.microsoft.com/office/drawing/2014/main" id="{EA4F1940-1C3D-4846-85F5-FBAC03DAE571}"/>
              </a:ext>
            </a:extLst>
          </p:cNvPr>
          <p:cNvSpPr>
            <a:spLocks noChangeArrowheads="1"/>
          </p:cNvSpPr>
          <p:nvPr/>
        </p:nvSpPr>
        <p:spPr bwMode="auto">
          <a:xfrm>
            <a:off x="304800" y="-122149"/>
            <a:ext cx="65" cy="853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85660" rIns="0" bIns="2856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EC" altLang="es-EC" sz="1800" b="0" i="0" u="none" strike="noStrike" cap="none" normalizeH="0" baseline="0" dirty="0">
              <a:ln>
                <a:noFill/>
              </a:ln>
              <a:solidFill>
                <a:schemeClr val="tx1"/>
              </a:solidFill>
              <a:effectLst/>
              <a:latin typeface="Arial" panose="020B0604020202020204" pitchFamily="34" charset="0"/>
            </a:endParaRPr>
          </a:p>
        </p:txBody>
      </p:sp>
      <p:sp>
        <p:nvSpPr>
          <p:cNvPr id="14" name="Rectangle 3">
            <a:extLst>
              <a:ext uri="{FF2B5EF4-FFF2-40B4-BE49-F238E27FC236}">
                <a16:creationId xmlns:a16="http://schemas.microsoft.com/office/drawing/2014/main" id="{7FF1EDD9-9FA0-45CA-B60D-D12146B704CB}"/>
              </a:ext>
            </a:extLst>
          </p:cNvPr>
          <p:cNvSpPr>
            <a:spLocks noChangeArrowheads="1"/>
          </p:cNvSpPr>
          <p:nvPr/>
        </p:nvSpPr>
        <p:spPr bwMode="auto">
          <a:xfrm rot="10800000" flipV="1">
            <a:off x="1051718" y="2471150"/>
            <a:ext cx="4422772" cy="22388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85660" rIns="0" bIns="2856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C" altLang="es-EC" b="0" i="0" u="none" strike="noStrike" cap="none" normalizeH="0" baseline="0" dirty="0">
                <a:ln>
                  <a:noFill/>
                </a:ln>
                <a:solidFill>
                  <a:schemeClr val="tx1"/>
                </a:solidFill>
                <a:effectLst/>
                <a:latin typeface="Google Sans"/>
              </a:rPr>
              <a:t>Es la librería fundamental para la </a:t>
            </a:r>
            <a:r>
              <a:rPr kumimoji="0" lang="es-EC" altLang="es-EC" b="1" i="0" u="none" strike="noStrike" cap="none" normalizeH="0" baseline="0" dirty="0">
                <a:ln>
                  <a:noFill/>
                </a:ln>
                <a:solidFill>
                  <a:schemeClr val="tx1"/>
                </a:solidFill>
                <a:effectLst/>
                <a:latin typeface="Google Sans"/>
              </a:rPr>
              <a:t>computación científica</a:t>
            </a:r>
            <a:r>
              <a:rPr kumimoji="0" lang="es-EC" altLang="es-EC" b="0" i="0" u="none" strike="noStrike" cap="none" normalizeH="0" baseline="0" dirty="0">
                <a:ln>
                  <a:noFill/>
                </a:ln>
                <a:solidFill>
                  <a:schemeClr val="tx1"/>
                </a:solidFill>
                <a:effectLst/>
                <a:latin typeface="Google Sans"/>
              </a:rPr>
              <a:t> y el </a:t>
            </a:r>
            <a:r>
              <a:rPr kumimoji="0" lang="es-EC" altLang="es-EC" b="1" i="0" u="none" strike="noStrike" cap="none" normalizeH="0" baseline="0" dirty="0">
                <a:ln>
                  <a:noFill/>
                </a:ln>
                <a:solidFill>
                  <a:schemeClr val="tx1"/>
                </a:solidFill>
                <a:effectLst/>
                <a:latin typeface="Google Sans"/>
              </a:rPr>
              <a:t>análisis de datos</a:t>
            </a:r>
            <a:r>
              <a:rPr kumimoji="0" lang="es-EC" altLang="es-EC" b="0" i="0" u="none" strike="noStrike" cap="none" normalizeH="0" baseline="0" dirty="0">
                <a:ln>
                  <a:noFill/>
                </a:ln>
                <a:solidFill>
                  <a:schemeClr val="tx1"/>
                </a:solidFill>
                <a:effectLst/>
                <a:latin typeface="Google Sans"/>
              </a:rPr>
              <a:t> en Python. Su poder principal radica en el </a:t>
            </a:r>
            <a:r>
              <a:rPr kumimoji="0" lang="es-EC" altLang="es-EC"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ndarray</a:t>
            </a:r>
            <a:r>
              <a:rPr kumimoji="0" lang="es-EC" altLang="es-EC" b="0" i="0" u="none" strike="noStrike" cap="none" normalizeH="0" baseline="0" dirty="0">
                <a:ln>
                  <a:noFill/>
                </a:ln>
                <a:solidFill>
                  <a:schemeClr val="tx1"/>
                </a:solidFill>
                <a:effectLst/>
                <a:latin typeface="Google Sans"/>
              </a:rPr>
              <a:t>, un objeto de matriz n-dimensional extremadamente rápido y eficiente.</a:t>
            </a:r>
            <a:endParaRPr kumimoji="0" lang="es-EC" altLang="es-EC"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C" altLang="es-EC" sz="1800" b="0" i="0" u="none" strike="noStrike" cap="none" normalizeH="0" baseline="0" dirty="0">
              <a:ln>
                <a:noFill/>
              </a:ln>
              <a:solidFill>
                <a:schemeClr val="tx1"/>
              </a:solidFill>
              <a:effectLst/>
              <a:latin typeface="Arial" panose="020B0604020202020204" pitchFamily="34" charset="0"/>
            </a:endParaRPr>
          </a:p>
        </p:txBody>
      </p:sp>
      <p:pic>
        <p:nvPicPr>
          <p:cNvPr id="23" name="Imagen 22">
            <a:extLst>
              <a:ext uri="{FF2B5EF4-FFF2-40B4-BE49-F238E27FC236}">
                <a16:creationId xmlns:a16="http://schemas.microsoft.com/office/drawing/2014/main" id="{5D81BB48-2079-42CA-A777-6191A443C967}"/>
              </a:ext>
            </a:extLst>
          </p:cNvPr>
          <p:cNvPicPr>
            <a:picLocks noChangeAspect="1"/>
          </p:cNvPicPr>
          <p:nvPr/>
        </p:nvPicPr>
        <p:blipFill>
          <a:blip r:embed="rId2"/>
          <a:stretch>
            <a:fillRect/>
          </a:stretch>
        </p:blipFill>
        <p:spPr>
          <a:xfrm>
            <a:off x="6523826" y="1893441"/>
            <a:ext cx="4117294" cy="245770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22149"/>
            <a:ext cx="12192000" cy="7248525"/>
          </a:xfrm>
          <a:custGeom>
            <a:avLst/>
            <a:gdLst/>
            <a:ahLst/>
            <a:cxnLst/>
            <a:rect l="l" t="t" r="r" b="b"/>
            <a:pathLst>
              <a:path w="12192000" h="7248525">
                <a:moveTo>
                  <a:pt x="12191999" y="7248524"/>
                </a:moveTo>
                <a:lnTo>
                  <a:pt x="0" y="7248524"/>
                </a:lnTo>
                <a:lnTo>
                  <a:pt x="0" y="0"/>
                </a:lnTo>
                <a:lnTo>
                  <a:pt x="12191999" y="0"/>
                </a:lnTo>
                <a:lnTo>
                  <a:pt x="12191999" y="7248524"/>
                </a:lnTo>
                <a:close/>
              </a:path>
            </a:pathLst>
          </a:custGeom>
          <a:solidFill>
            <a:srgbClr val="3B6978"/>
          </a:solidFill>
        </p:spPr>
        <p:txBody>
          <a:bodyPr wrap="square" lIns="0" tIns="0" rIns="0" bIns="0" rtlCol="0"/>
          <a:lstStyle/>
          <a:p>
            <a:endParaRPr dirty="0"/>
          </a:p>
        </p:txBody>
      </p:sp>
      <p:sp>
        <p:nvSpPr>
          <p:cNvPr id="3" name="Título 2">
            <a:extLst>
              <a:ext uri="{FF2B5EF4-FFF2-40B4-BE49-F238E27FC236}">
                <a16:creationId xmlns:a16="http://schemas.microsoft.com/office/drawing/2014/main" id="{EC9D8025-0E81-41EC-8A3F-89063CEF1464}"/>
              </a:ext>
            </a:extLst>
          </p:cNvPr>
          <p:cNvSpPr>
            <a:spLocks noGrp="1"/>
          </p:cNvSpPr>
          <p:nvPr>
            <p:ph type="title"/>
          </p:nvPr>
        </p:nvSpPr>
        <p:spPr>
          <a:xfrm>
            <a:off x="654049" y="415925"/>
            <a:ext cx="10896600" cy="1200329"/>
          </a:xfrm>
        </p:spPr>
        <p:txBody>
          <a:bodyPr/>
          <a:lstStyle/>
          <a:p>
            <a:pPr algn="ctr"/>
            <a:r>
              <a:rPr lang="es-EC" b="1" i="0" dirty="0">
                <a:solidFill>
                  <a:srgbClr val="273540"/>
                </a:solidFill>
                <a:effectLst/>
                <a:latin typeface="LatoWeb"/>
              </a:rPr>
              <a:t>¿Para qué sirve?</a:t>
            </a:r>
            <a:br>
              <a:rPr lang="es-ES" b="1" dirty="0">
                <a:solidFill>
                  <a:schemeClr val="tx1"/>
                </a:solidFill>
                <a:latin typeface="Times New Roman" panose="02020603050405020304" pitchFamily="18" charset="0"/>
                <a:cs typeface="Times New Roman" panose="02020603050405020304" pitchFamily="18" charset="0"/>
              </a:rPr>
            </a:br>
            <a:endParaRPr lang="es-EC" dirty="0"/>
          </a:p>
        </p:txBody>
      </p:sp>
      <p:sp>
        <p:nvSpPr>
          <p:cNvPr id="5" name="object 5"/>
          <p:cNvSpPr txBox="1"/>
          <p:nvPr/>
        </p:nvSpPr>
        <p:spPr>
          <a:xfrm>
            <a:off x="749299" y="3044825"/>
            <a:ext cx="292100" cy="345440"/>
          </a:xfrm>
          <a:prstGeom prst="rect">
            <a:avLst/>
          </a:prstGeom>
        </p:spPr>
        <p:txBody>
          <a:bodyPr vert="horz" wrap="square" lIns="0" tIns="12700" rIns="0" bIns="0" rtlCol="0">
            <a:spAutoFit/>
          </a:bodyPr>
          <a:lstStyle/>
          <a:p>
            <a:pPr marL="12700">
              <a:lnSpc>
                <a:spcPct val="100000"/>
              </a:lnSpc>
              <a:spcBef>
                <a:spcPts val="100"/>
              </a:spcBef>
            </a:pPr>
            <a:r>
              <a:rPr sz="2100" spc="-50" dirty="0">
                <a:solidFill>
                  <a:srgbClr val="A7D9DB"/>
                </a:solidFill>
                <a:latin typeface="Century Gothic"/>
                <a:cs typeface="Century Gothic"/>
              </a:rPr>
              <a:t></a:t>
            </a:r>
            <a:endParaRPr sz="2100" dirty="0">
              <a:latin typeface="Century Gothic"/>
              <a:cs typeface="Century Gothic"/>
            </a:endParaRPr>
          </a:p>
        </p:txBody>
      </p:sp>
      <p:sp>
        <p:nvSpPr>
          <p:cNvPr id="6" name="object 6"/>
          <p:cNvSpPr txBox="1"/>
          <p:nvPr/>
        </p:nvSpPr>
        <p:spPr>
          <a:xfrm>
            <a:off x="1091403" y="1560071"/>
            <a:ext cx="4511040" cy="689932"/>
          </a:xfrm>
          <a:prstGeom prst="rect">
            <a:avLst/>
          </a:prstGeom>
        </p:spPr>
        <p:txBody>
          <a:bodyPr vert="horz" wrap="square" lIns="0" tIns="12700" rIns="0" bIns="0" rtlCol="0">
            <a:spAutoFit/>
          </a:bodyPr>
          <a:lstStyle/>
          <a:p>
            <a:pPr algn="l"/>
            <a:r>
              <a:rPr lang="es-ES" sz="3200" b="1" i="0" dirty="0">
                <a:solidFill>
                  <a:srgbClr val="1F1F1F"/>
                </a:solidFill>
                <a:effectLst/>
                <a:latin typeface="Times New Roman" panose="02020603050405020304" pitchFamily="18" charset="0"/>
                <a:cs typeface="Times New Roman" panose="02020603050405020304" pitchFamily="18" charset="0"/>
              </a:rPr>
              <a:t>Numpy</a:t>
            </a:r>
          </a:p>
          <a:p>
            <a:pPr algn="l"/>
            <a:endParaRPr lang="es-ES" sz="1200" b="1" i="0" dirty="0">
              <a:solidFill>
                <a:srgbClr val="1F1F1F"/>
              </a:solidFill>
              <a:effectLst/>
              <a:latin typeface="Times New Roman" panose="02020603050405020304" pitchFamily="18" charset="0"/>
              <a:cs typeface="Times New Roman" panose="02020603050405020304" pitchFamily="18" charset="0"/>
            </a:endParaRPr>
          </a:p>
        </p:txBody>
      </p:sp>
      <p:sp>
        <p:nvSpPr>
          <p:cNvPr id="7" name="object 7"/>
          <p:cNvSpPr txBox="1"/>
          <p:nvPr/>
        </p:nvSpPr>
        <p:spPr>
          <a:xfrm>
            <a:off x="749299" y="4330700"/>
            <a:ext cx="292100" cy="345440"/>
          </a:xfrm>
          <a:prstGeom prst="rect">
            <a:avLst/>
          </a:prstGeom>
        </p:spPr>
        <p:txBody>
          <a:bodyPr vert="horz" wrap="square" lIns="0" tIns="12700" rIns="0" bIns="0" rtlCol="0">
            <a:spAutoFit/>
          </a:bodyPr>
          <a:lstStyle/>
          <a:p>
            <a:pPr marL="12700">
              <a:lnSpc>
                <a:spcPct val="100000"/>
              </a:lnSpc>
              <a:spcBef>
                <a:spcPts val="100"/>
              </a:spcBef>
            </a:pPr>
            <a:r>
              <a:rPr sz="2100" spc="-50" dirty="0">
                <a:solidFill>
                  <a:srgbClr val="A7D9DB"/>
                </a:solidFill>
                <a:latin typeface="Century Gothic"/>
                <a:cs typeface="Century Gothic"/>
              </a:rPr>
              <a:t></a:t>
            </a:r>
            <a:endParaRPr sz="2100">
              <a:latin typeface="Century Gothic"/>
              <a:cs typeface="Century Gothic"/>
            </a:endParaRPr>
          </a:p>
        </p:txBody>
      </p:sp>
      <p:sp>
        <p:nvSpPr>
          <p:cNvPr id="12" name="Rectangle 5">
            <a:extLst>
              <a:ext uri="{FF2B5EF4-FFF2-40B4-BE49-F238E27FC236}">
                <a16:creationId xmlns:a16="http://schemas.microsoft.com/office/drawing/2014/main" id="{EA4F1940-1C3D-4846-85F5-FBAC03DAE571}"/>
              </a:ext>
            </a:extLst>
          </p:cNvPr>
          <p:cNvSpPr>
            <a:spLocks noChangeArrowheads="1"/>
          </p:cNvSpPr>
          <p:nvPr/>
        </p:nvSpPr>
        <p:spPr bwMode="auto">
          <a:xfrm>
            <a:off x="304800" y="-122149"/>
            <a:ext cx="65" cy="853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85660" rIns="0" bIns="2856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EC" altLang="es-EC" sz="1800" b="0" i="0" u="none" strike="noStrike" cap="none" normalizeH="0" baseline="0" dirty="0">
              <a:ln>
                <a:noFill/>
              </a:ln>
              <a:solidFill>
                <a:schemeClr val="tx1"/>
              </a:solidFill>
              <a:effectLst/>
              <a:latin typeface="Arial" panose="020B0604020202020204" pitchFamily="34" charset="0"/>
            </a:endParaRPr>
          </a:p>
        </p:txBody>
      </p:sp>
      <p:sp>
        <p:nvSpPr>
          <p:cNvPr id="14" name="Rectangle 3">
            <a:extLst>
              <a:ext uri="{FF2B5EF4-FFF2-40B4-BE49-F238E27FC236}">
                <a16:creationId xmlns:a16="http://schemas.microsoft.com/office/drawing/2014/main" id="{7FF1EDD9-9FA0-45CA-B60D-D12146B704CB}"/>
              </a:ext>
            </a:extLst>
          </p:cNvPr>
          <p:cNvSpPr>
            <a:spLocks noChangeArrowheads="1"/>
          </p:cNvSpPr>
          <p:nvPr/>
        </p:nvSpPr>
        <p:spPr bwMode="auto">
          <a:xfrm rot="10800000" flipV="1">
            <a:off x="1051718" y="1932541"/>
            <a:ext cx="4422772" cy="3316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85660" rIns="0" bIns="285660" numCol="1" anchor="ctr" anchorCtr="0" compatLnSpc="1">
            <a:prstTxWarp prst="textNoShape">
              <a:avLst/>
            </a:prstTxWarp>
            <a:spAutoFit/>
          </a:bodyPr>
          <a:lstStyle/>
          <a:p>
            <a:r>
              <a:rPr lang="es-ES" sz="2000" u="none" strike="noStrike" dirty="0">
                <a:effectLst/>
                <a:latin typeface="Google Sans"/>
              </a:rPr>
              <a:t>NumPy sirve principalmente para hacer cálculos matemáticos y procesar datos masivos a máxima velocidad en Python. </a:t>
            </a:r>
          </a:p>
          <a:p>
            <a:r>
              <a:rPr lang="es-ES" sz="2000" u="none" strike="noStrike" dirty="0">
                <a:effectLst/>
                <a:latin typeface="Google Sans"/>
              </a:rPr>
              <a:t>A diferencia del Python básico, que procesa los datos uno por uno de forma lenta, NumPy permite realizar operaciones en bloque sobre millones de datos al mismo tiempo.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C" altLang="es-EC" sz="1800" i="0" u="none" strike="noStrike" cap="none" normalizeH="0" baseline="0" dirty="0">
              <a:ln>
                <a:noFill/>
              </a:ln>
              <a:solidFill>
                <a:schemeClr val="tx1"/>
              </a:solidFill>
              <a:effectLst/>
              <a:latin typeface="Arial" panose="020B0604020202020204" pitchFamily="34" charset="0"/>
            </a:endParaRPr>
          </a:p>
        </p:txBody>
      </p:sp>
      <p:pic>
        <p:nvPicPr>
          <p:cNvPr id="9" name="Imagen 8">
            <a:extLst>
              <a:ext uri="{FF2B5EF4-FFF2-40B4-BE49-F238E27FC236}">
                <a16:creationId xmlns:a16="http://schemas.microsoft.com/office/drawing/2014/main" id="{DB94E75A-0460-4FD5-BF79-A472C8618AE3}"/>
              </a:ext>
            </a:extLst>
          </p:cNvPr>
          <p:cNvPicPr>
            <a:picLocks noChangeAspect="1"/>
          </p:cNvPicPr>
          <p:nvPr/>
        </p:nvPicPr>
        <p:blipFill>
          <a:blip r:embed="rId2"/>
          <a:stretch>
            <a:fillRect/>
          </a:stretch>
        </p:blipFill>
        <p:spPr>
          <a:xfrm>
            <a:off x="5730396" y="1430112"/>
            <a:ext cx="6077798" cy="322942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619231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1796" y="-117600"/>
            <a:ext cx="12192000" cy="7248525"/>
          </a:xfrm>
          <a:custGeom>
            <a:avLst/>
            <a:gdLst/>
            <a:ahLst/>
            <a:cxnLst/>
            <a:rect l="l" t="t" r="r" b="b"/>
            <a:pathLst>
              <a:path w="12192000" h="7248525">
                <a:moveTo>
                  <a:pt x="12191999" y="7248524"/>
                </a:moveTo>
                <a:lnTo>
                  <a:pt x="0" y="7248524"/>
                </a:lnTo>
                <a:lnTo>
                  <a:pt x="0" y="0"/>
                </a:lnTo>
                <a:lnTo>
                  <a:pt x="12191999" y="0"/>
                </a:lnTo>
                <a:lnTo>
                  <a:pt x="12191999" y="7248524"/>
                </a:lnTo>
                <a:close/>
              </a:path>
            </a:pathLst>
          </a:custGeom>
          <a:solidFill>
            <a:srgbClr val="3B6978"/>
          </a:solidFill>
        </p:spPr>
        <p:txBody>
          <a:bodyPr wrap="square" lIns="0" tIns="0" rIns="0" bIns="0" rtlCol="0"/>
          <a:lstStyle/>
          <a:p>
            <a:endParaRPr dirty="0"/>
          </a:p>
        </p:txBody>
      </p:sp>
      <p:sp>
        <p:nvSpPr>
          <p:cNvPr id="3" name="Título 2">
            <a:extLst>
              <a:ext uri="{FF2B5EF4-FFF2-40B4-BE49-F238E27FC236}">
                <a16:creationId xmlns:a16="http://schemas.microsoft.com/office/drawing/2014/main" id="{EC9D8025-0E81-41EC-8A3F-89063CEF1464}"/>
              </a:ext>
            </a:extLst>
          </p:cNvPr>
          <p:cNvSpPr>
            <a:spLocks noGrp="1"/>
          </p:cNvSpPr>
          <p:nvPr>
            <p:ph type="title"/>
          </p:nvPr>
        </p:nvSpPr>
        <p:spPr>
          <a:xfrm>
            <a:off x="654049" y="415925"/>
            <a:ext cx="10896600" cy="1215717"/>
          </a:xfrm>
        </p:spPr>
        <p:txBody>
          <a:bodyPr/>
          <a:lstStyle/>
          <a:p>
            <a:pPr algn="ctr"/>
            <a:r>
              <a:rPr lang="es-EC" sz="4000" b="1" i="0" dirty="0">
                <a:solidFill>
                  <a:srgbClr val="1F1F1F"/>
                </a:solidFill>
                <a:effectLst/>
                <a:latin typeface="Google Sans Text"/>
              </a:rPr>
              <a:t>¿ Como se utiliza / implementa?</a:t>
            </a:r>
            <a:br>
              <a:rPr lang="es-ES" sz="4000" b="1" i="0" dirty="0">
                <a:solidFill>
                  <a:srgbClr val="1F1F1F"/>
                </a:solidFill>
                <a:effectLst/>
                <a:latin typeface="Times New Roman" panose="02020603050405020304" pitchFamily="18" charset="0"/>
                <a:cs typeface="Times New Roman" panose="02020603050405020304" pitchFamily="18" charset="0"/>
              </a:rPr>
            </a:br>
            <a:endParaRPr lang="es-EC" dirty="0"/>
          </a:p>
        </p:txBody>
      </p:sp>
      <p:sp>
        <p:nvSpPr>
          <p:cNvPr id="5" name="object 5"/>
          <p:cNvSpPr txBox="1"/>
          <p:nvPr/>
        </p:nvSpPr>
        <p:spPr>
          <a:xfrm>
            <a:off x="749299" y="3044825"/>
            <a:ext cx="292100" cy="345440"/>
          </a:xfrm>
          <a:prstGeom prst="rect">
            <a:avLst/>
          </a:prstGeom>
        </p:spPr>
        <p:txBody>
          <a:bodyPr vert="horz" wrap="square" lIns="0" tIns="12700" rIns="0" bIns="0" rtlCol="0">
            <a:spAutoFit/>
          </a:bodyPr>
          <a:lstStyle/>
          <a:p>
            <a:pPr marL="12700">
              <a:lnSpc>
                <a:spcPct val="100000"/>
              </a:lnSpc>
              <a:spcBef>
                <a:spcPts val="100"/>
              </a:spcBef>
            </a:pPr>
            <a:r>
              <a:rPr sz="2100" spc="-50" dirty="0">
                <a:solidFill>
                  <a:srgbClr val="A7D9DB"/>
                </a:solidFill>
                <a:latin typeface="Century Gothic"/>
                <a:cs typeface="Century Gothic"/>
              </a:rPr>
              <a:t></a:t>
            </a:r>
            <a:endParaRPr sz="2100" dirty="0">
              <a:latin typeface="Century Gothic"/>
              <a:cs typeface="Century Gothic"/>
            </a:endParaRPr>
          </a:p>
        </p:txBody>
      </p:sp>
      <p:sp>
        <p:nvSpPr>
          <p:cNvPr id="7" name="object 7"/>
          <p:cNvSpPr txBox="1"/>
          <p:nvPr/>
        </p:nvSpPr>
        <p:spPr>
          <a:xfrm>
            <a:off x="749299" y="4330700"/>
            <a:ext cx="292100" cy="345440"/>
          </a:xfrm>
          <a:prstGeom prst="rect">
            <a:avLst/>
          </a:prstGeom>
        </p:spPr>
        <p:txBody>
          <a:bodyPr vert="horz" wrap="square" lIns="0" tIns="12700" rIns="0" bIns="0" rtlCol="0">
            <a:spAutoFit/>
          </a:bodyPr>
          <a:lstStyle/>
          <a:p>
            <a:pPr marL="12700">
              <a:lnSpc>
                <a:spcPct val="100000"/>
              </a:lnSpc>
              <a:spcBef>
                <a:spcPts val="100"/>
              </a:spcBef>
            </a:pPr>
            <a:r>
              <a:rPr sz="2100" spc="-50" dirty="0">
                <a:solidFill>
                  <a:srgbClr val="A7D9DB"/>
                </a:solidFill>
                <a:latin typeface="Century Gothic"/>
                <a:cs typeface="Century Gothic"/>
              </a:rPr>
              <a:t></a:t>
            </a:r>
            <a:endParaRPr sz="2100">
              <a:latin typeface="Century Gothic"/>
              <a:cs typeface="Century Gothic"/>
            </a:endParaRPr>
          </a:p>
        </p:txBody>
      </p:sp>
      <p:sp>
        <p:nvSpPr>
          <p:cNvPr id="12" name="Rectangle 5">
            <a:extLst>
              <a:ext uri="{FF2B5EF4-FFF2-40B4-BE49-F238E27FC236}">
                <a16:creationId xmlns:a16="http://schemas.microsoft.com/office/drawing/2014/main" id="{EA4F1940-1C3D-4846-85F5-FBAC03DAE571}"/>
              </a:ext>
            </a:extLst>
          </p:cNvPr>
          <p:cNvSpPr>
            <a:spLocks noChangeArrowheads="1"/>
          </p:cNvSpPr>
          <p:nvPr/>
        </p:nvSpPr>
        <p:spPr bwMode="auto">
          <a:xfrm>
            <a:off x="304800" y="-122149"/>
            <a:ext cx="65" cy="853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85660" rIns="0" bIns="2856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EC" altLang="es-EC" sz="1800" b="0" i="0" u="none" strike="noStrike" cap="none" normalizeH="0" baseline="0" dirty="0">
              <a:ln>
                <a:noFill/>
              </a:ln>
              <a:solidFill>
                <a:schemeClr val="tx1"/>
              </a:solidFill>
              <a:effectLst/>
              <a:latin typeface="Arial" panose="020B0604020202020204" pitchFamily="34" charset="0"/>
            </a:endParaRPr>
          </a:p>
        </p:txBody>
      </p:sp>
      <p:sp>
        <p:nvSpPr>
          <p:cNvPr id="14" name="Rectangle 3">
            <a:extLst>
              <a:ext uri="{FF2B5EF4-FFF2-40B4-BE49-F238E27FC236}">
                <a16:creationId xmlns:a16="http://schemas.microsoft.com/office/drawing/2014/main" id="{7FF1EDD9-9FA0-45CA-B60D-D12146B704CB}"/>
              </a:ext>
            </a:extLst>
          </p:cNvPr>
          <p:cNvSpPr>
            <a:spLocks noChangeArrowheads="1"/>
          </p:cNvSpPr>
          <p:nvPr/>
        </p:nvSpPr>
        <p:spPr bwMode="auto">
          <a:xfrm rot="10800000" flipV="1">
            <a:off x="1033778" y="1902818"/>
            <a:ext cx="5660232" cy="3962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85660" rIns="0" bIns="285660" numCol="1" anchor="ctr" anchorCtr="0" compatLnSpc="1">
            <a:prstTxWarp prst="textNoShape">
              <a:avLst/>
            </a:prstTxWarp>
            <a:spAutoFit/>
          </a:bodyPr>
          <a:lstStyle/>
          <a:p>
            <a:r>
              <a:rPr lang="es-ES" sz="2000" b="0" i="0" dirty="0">
                <a:solidFill>
                  <a:srgbClr val="1F1F1F"/>
                </a:solidFill>
                <a:effectLst/>
                <a:latin typeface="Google Sans Text"/>
              </a:rPr>
              <a:t>Para implementar NumPy en un entorno de desarrollo, el primer paso consiste en realizar su instalación mediante el gestor de paquetes de Python y posteriormente importarla en el script de trabajo utilizando el alias estandarizado por la comunidad de programación. Una vez cargada en el sistema, su uso se centra en la conversión de listas de datos en vectores o matrices para luego aplicar funciones estadísticas avanzadas, transformaciones de geometría matricial o filtros booleanos de alta velocidad con una sola línea de comandos.</a:t>
            </a:r>
            <a:endParaRPr kumimoji="0" lang="es-EC" altLang="es-EC" sz="1800" i="0" u="none" strike="noStrike" cap="none" normalizeH="0" baseline="0" dirty="0">
              <a:ln>
                <a:noFill/>
              </a:ln>
              <a:solidFill>
                <a:schemeClr val="tx1"/>
              </a:solidFill>
              <a:effectLst/>
              <a:latin typeface="Arial" panose="020B0604020202020204" pitchFamily="34" charset="0"/>
            </a:endParaRPr>
          </a:p>
        </p:txBody>
      </p:sp>
      <p:pic>
        <p:nvPicPr>
          <p:cNvPr id="8" name="Imagen 7">
            <a:extLst>
              <a:ext uri="{FF2B5EF4-FFF2-40B4-BE49-F238E27FC236}">
                <a16:creationId xmlns:a16="http://schemas.microsoft.com/office/drawing/2014/main" id="{C0704C73-3F8C-4EBD-95C4-5297BD074585}"/>
              </a:ext>
            </a:extLst>
          </p:cNvPr>
          <p:cNvPicPr>
            <a:picLocks noChangeAspect="1"/>
          </p:cNvPicPr>
          <p:nvPr/>
        </p:nvPicPr>
        <p:blipFill>
          <a:blip r:embed="rId2"/>
          <a:stretch>
            <a:fillRect/>
          </a:stretch>
        </p:blipFill>
        <p:spPr>
          <a:xfrm>
            <a:off x="6978487" y="1902818"/>
            <a:ext cx="4476913" cy="37299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411888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FBD57F2F-C39E-4AD7-A9B6-6C0CC6B1D4DB}"/>
              </a:ext>
            </a:extLst>
          </p:cNvPr>
          <p:cNvSpPr/>
          <p:nvPr/>
        </p:nvSpPr>
        <p:spPr>
          <a:xfrm>
            <a:off x="-7938" y="0"/>
            <a:ext cx="12192000" cy="7248525"/>
          </a:xfrm>
          <a:custGeom>
            <a:avLst/>
            <a:gdLst/>
            <a:ahLst/>
            <a:cxnLst/>
            <a:rect l="l" t="t" r="r" b="b"/>
            <a:pathLst>
              <a:path w="12192000" h="7248525">
                <a:moveTo>
                  <a:pt x="12191999" y="7248524"/>
                </a:moveTo>
                <a:lnTo>
                  <a:pt x="0" y="7248524"/>
                </a:lnTo>
                <a:lnTo>
                  <a:pt x="0" y="0"/>
                </a:lnTo>
                <a:lnTo>
                  <a:pt x="12191999" y="0"/>
                </a:lnTo>
                <a:lnTo>
                  <a:pt x="12191999" y="7248524"/>
                </a:lnTo>
                <a:close/>
              </a:path>
            </a:pathLst>
          </a:custGeom>
          <a:solidFill>
            <a:srgbClr val="3B6978"/>
          </a:solidFill>
        </p:spPr>
        <p:txBody>
          <a:bodyPr wrap="square" lIns="0" tIns="0" rIns="0" bIns="0" rtlCol="0"/>
          <a:lstStyle/>
          <a:p>
            <a:endParaRPr dirty="0"/>
          </a:p>
        </p:txBody>
      </p:sp>
      <p:sp>
        <p:nvSpPr>
          <p:cNvPr id="2" name="Título 1">
            <a:extLst>
              <a:ext uri="{FF2B5EF4-FFF2-40B4-BE49-F238E27FC236}">
                <a16:creationId xmlns:a16="http://schemas.microsoft.com/office/drawing/2014/main" id="{8FF8CDE4-BB96-427E-882E-FD091CCFF496}"/>
              </a:ext>
            </a:extLst>
          </p:cNvPr>
          <p:cNvSpPr>
            <a:spLocks noGrp="1"/>
          </p:cNvSpPr>
          <p:nvPr>
            <p:ph type="title"/>
          </p:nvPr>
        </p:nvSpPr>
        <p:spPr/>
        <p:txBody>
          <a:bodyPr/>
          <a:lstStyle/>
          <a:p>
            <a:pPr algn="ctr"/>
            <a:r>
              <a:rPr lang="es-ES" dirty="0">
                <a:solidFill>
                  <a:schemeClr val="tx1"/>
                </a:solidFill>
              </a:rPr>
              <a:t>Ejemplo</a:t>
            </a:r>
            <a:endParaRPr lang="es-EC" dirty="0">
              <a:solidFill>
                <a:schemeClr val="tx1"/>
              </a:solidFill>
            </a:endParaRPr>
          </a:p>
        </p:txBody>
      </p:sp>
      <p:pic>
        <p:nvPicPr>
          <p:cNvPr id="6" name="Imagen 5">
            <a:extLst>
              <a:ext uri="{FF2B5EF4-FFF2-40B4-BE49-F238E27FC236}">
                <a16:creationId xmlns:a16="http://schemas.microsoft.com/office/drawing/2014/main" id="{AF941CFD-83AA-43FE-B8EA-834EE29C12A6}"/>
              </a:ext>
            </a:extLst>
          </p:cNvPr>
          <p:cNvPicPr>
            <a:picLocks noChangeAspect="1"/>
          </p:cNvPicPr>
          <p:nvPr/>
        </p:nvPicPr>
        <p:blipFill>
          <a:blip r:embed="rId2"/>
          <a:stretch>
            <a:fillRect/>
          </a:stretch>
        </p:blipFill>
        <p:spPr>
          <a:xfrm>
            <a:off x="2139949" y="1600200"/>
            <a:ext cx="7924800" cy="4405534"/>
          </a:xfrm>
          <a:prstGeom prst="rect">
            <a:avLst/>
          </a:prstGeom>
        </p:spPr>
      </p:pic>
    </p:spTree>
    <p:extLst>
      <p:ext uri="{BB962C8B-B14F-4D97-AF65-F5344CB8AC3E}">
        <p14:creationId xmlns:p14="http://schemas.microsoft.com/office/powerpoint/2010/main" val="31841122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785</TotalTime>
  <Words>236</Words>
  <Application>Microsoft Office PowerPoint</Application>
  <PresentationFormat>Personalizado</PresentationFormat>
  <Paragraphs>29</Paragraphs>
  <Slides>6</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6</vt:i4>
      </vt:variant>
    </vt:vector>
  </HeadingPairs>
  <TitlesOfParts>
    <vt:vector size="14" baseType="lpstr">
      <vt:lpstr>Arial</vt:lpstr>
      <vt:lpstr>Century Gothic</vt:lpstr>
      <vt:lpstr>Courier New</vt:lpstr>
      <vt:lpstr>Google Sans</vt:lpstr>
      <vt:lpstr>Google Sans Text</vt:lpstr>
      <vt:lpstr>LatoWeb</vt:lpstr>
      <vt:lpstr>Times New Roman</vt:lpstr>
      <vt:lpstr>Office Theme</vt:lpstr>
      <vt:lpstr>PROGRAMACION</vt:lpstr>
      <vt:lpstr>TABLA DE CONTENIDOS</vt:lpstr>
      <vt:lpstr>¿Qué es?  </vt:lpstr>
      <vt:lpstr>¿Para qué sirve? </vt:lpstr>
      <vt:lpstr>¿ Como se utiliza / implementa? </vt:lpstr>
      <vt:lpstr>Ejemplo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CENTROIDES Y CENTROS DE GRAVEDAD</dc:title>
  <dc:creator>Vicente Ortiz</dc:creator>
  <cp:lastModifiedBy>angelo guillermo reyes lucas</cp:lastModifiedBy>
  <cp:revision>34</cp:revision>
  <cp:lastPrinted>2026-02-12T03:59:40Z</cp:lastPrinted>
  <dcterms:created xsi:type="dcterms:W3CDTF">2026-01-07T04:29:04Z</dcterms:created>
  <dcterms:modified xsi:type="dcterms:W3CDTF">2026-08-12T01:14:57Z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2026-01-07T00:00:00Z</vt:filetime>
  </property>
  <property fmtid="{D5CDD505-2E9C-101B-9397-08002B2CF9AE}" pid="3" name="Creator">
    <vt:lpwstr>Chromium</vt:lpwstr>
  </property>
  <property fmtid="{D5CDD505-2E9C-101B-9397-08002B2CF9AE}" pid="4" name="LastSaved">
    <vt:filetime>2026-01-07T00:00:00Z</vt:filetime>
  </property>
  <property fmtid="{D5CDD505-2E9C-101B-9397-08002B2CF9AE}" pid="5" name="Producer">
    <vt:lpwstr>pdfcpu v0.11.0 dev</vt:lpwstr>
  </property>
</Properties>
</file>