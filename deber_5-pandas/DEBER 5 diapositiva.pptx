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12204700" cy="6858000"/>
  <p:notesSz cx="12204700" cy="11201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60"/>
  </p:normalViewPr>
  <p:slideViewPr>
    <p:cSldViewPr>
      <p:cViewPr varScale="1">
        <p:scale>
          <a:sx n="67" d="100"/>
          <a:sy n="67" d="100"/>
        </p:scale>
        <p:origin x="84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9917"/>
            <a:ext cx="10373995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A7D9D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A7D9D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30300" y="1588135"/>
            <a:ext cx="5260975" cy="4554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A7D9D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B6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525" y="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047749" y="3809999"/>
                </a:moveTo>
                <a:lnTo>
                  <a:pt x="979960" y="3809167"/>
                </a:lnTo>
                <a:lnTo>
                  <a:pt x="912212" y="3806672"/>
                </a:lnTo>
                <a:lnTo>
                  <a:pt x="844546" y="3802515"/>
                </a:lnTo>
                <a:lnTo>
                  <a:pt x="777002" y="3796698"/>
                </a:lnTo>
                <a:lnTo>
                  <a:pt x="709619" y="3789226"/>
                </a:lnTo>
                <a:lnTo>
                  <a:pt x="642439" y="3780102"/>
                </a:lnTo>
                <a:lnTo>
                  <a:pt x="575509" y="3769332"/>
                </a:lnTo>
                <a:lnTo>
                  <a:pt x="508860" y="3756923"/>
                </a:lnTo>
                <a:lnTo>
                  <a:pt x="442536" y="3742882"/>
                </a:lnTo>
                <a:lnTo>
                  <a:pt x="376577" y="3727218"/>
                </a:lnTo>
                <a:lnTo>
                  <a:pt x="311022" y="3709939"/>
                </a:lnTo>
                <a:lnTo>
                  <a:pt x="245911" y="3691057"/>
                </a:lnTo>
                <a:lnTo>
                  <a:pt x="181282" y="3670583"/>
                </a:lnTo>
                <a:lnTo>
                  <a:pt x="117176" y="3648529"/>
                </a:lnTo>
                <a:lnTo>
                  <a:pt x="53629" y="3624908"/>
                </a:lnTo>
                <a:lnTo>
                  <a:pt x="0" y="3603527"/>
                </a:lnTo>
                <a:lnTo>
                  <a:pt x="0" y="0"/>
                </a:lnTo>
                <a:lnTo>
                  <a:pt x="3603528" y="0"/>
                </a:lnTo>
                <a:lnTo>
                  <a:pt x="3624908" y="53629"/>
                </a:lnTo>
                <a:lnTo>
                  <a:pt x="3648529" y="117175"/>
                </a:lnTo>
                <a:lnTo>
                  <a:pt x="3670583" y="181282"/>
                </a:lnTo>
                <a:lnTo>
                  <a:pt x="3691058" y="245911"/>
                </a:lnTo>
                <a:lnTo>
                  <a:pt x="3709940" y="311022"/>
                </a:lnTo>
                <a:lnTo>
                  <a:pt x="3727218" y="376577"/>
                </a:lnTo>
                <a:lnTo>
                  <a:pt x="3742882" y="442537"/>
                </a:lnTo>
                <a:lnTo>
                  <a:pt x="3756923" y="508861"/>
                </a:lnTo>
                <a:lnTo>
                  <a:pt x="3769332" y="575510"/>
                </a:lnTo>
                <a:lnTo>
                  <a:pt x="3780102" y="642443"/>
                </a:lnTo>
                <a:lnTo>
                  <a:pt x="3789226" y="709620"/>
                </a:lnTo>
                <a:lnTo>
                  <a:pt x="3796698" y="777002"/>
                </a:lnTo>
                <a:lnTo>
                  <a:pt x="3802515" y="844546"/>
                </a:lnTo>
                <a:lnTo>
                  <a:pt x="3806672" y="912212"/>
                </a:lnTo>
                <a:lnTo>
                  <a:pt x="3809167" y="979960"/>
                </a:lnTo>
                <a:lnTo>
                  <a:pt x="3809999" y="1047749"/>
                </a:lnTo>
                <a:lnTo>
                  <a:pt x="3809791" y="1081649"/>
                </a:lnTo>
                <a:lnTo>
                  <a:pt x="3808128" y="1149418"/>
                </a:lnTo>
                <a:lnTo>
                  <a:pt x="3804801" y="1217135"/>
                </a:lnTo>
                <a:lnTo>
                  <a:pt x="3799814" y="1284740"/>
                </a:lnTo>
                <a:lnTo>
                  <a:pt x="3793169" y="1352213"/>
                </a:lnTo>
                <a:lnTo>
                  <a:pt x="3784870" y="1419492"/>
                </a:lnTo>
                <a:lnTo>
                  <a:pt x="3774922" y="1486558"/>
                </a:lnTo>
                <a:lnTo>
                  <a:pt x="3763333" y="1553349"/>
                </a:lnTo>
                <a:lnTo>
                  <a:pt x="3750106" y="1619845"/>
                </a:lnTo>
                <a:lnTo>
                  <a:pt x="3735253" y="1685987"/>
                </a:lnTo>
                <a:lnTo>
                  <a:pt x="3718779" y="1751754"/>
                </a:lnTo>
                <a:lnTo>
                  <a:pt x="3700699" y="1817088"/>
                </a:lnTo>
                <a:lnTo>
                  <a:pt x="3681018" y="1881967"/>
                </a:lnTo>
                <a:lnTo>
                  <a:pt x="3659754" y="1946335"/>
                </a:lnTo>
                <a:lnTo>
                  <a:pt x="3636913" y="2010171"/>
                </a:lnTo>
                <a:lnTo>
                  <a:pt x="3612516" y="2073417"/>
                </a:lnTo>
                <a:lnTo>
                  <a:pt x="3586570" y="2136056"/>
                </a:lnTo>
                <a:lnTo>
                  <a:pt x="3559099" y="2198029"/>
                </a:lnTo>
                <a:lnTo>
                  <a:pt x="3530111" y="2259319"/>
                </a:lnTo>
                <a:lnTo>
                  <a:pt x="3499632" y="2319870"/>
                </a:lnTo>
                <a:lnTo>
                  <a:pt x="3467672" y="2379664"/>
                </a:lnTo>
                <a:lnTo>
                  <a:pt x="3434259" y="2438646"/>
                </a:lnTo>
                <a:lnTo>
                  <a:pt x="3399403" y="2496799"/>
                </a:lnTo>
                <a:lnTo>
                  <a:pt x="3363136" y="2554071"/>
                </a:lnTo>
                <a:lnTo>
                  <a:pt x="3325469" y="2610444"/>
                </a:lnTo>
                <a:lnTo>
                  <a:pt x="3286436" y="2665867"/>
                </a:lnTo>
                <a:lnTo>
                  <a:pt x="3246048" y="2720324"/>
                </a:lnTo>
                <a:lnTo>
                  <a:pt x="3204342" y="2773765"/>
                </a:lnTo>
                <a:lnTo>
                  <a:pt x="3161331" y="2826174"/>
                </a:lnTo>
                <a:lnTo>
                  <a:pt x="3117053" y="2877505"/>
                </a:lnTo>
                <a:lnTo>
                  <a:pt x="3071522" y="2927741"/>
                </a:lnTo>
                <a:lnTo>
                  <a:pt x="3024778" y="2976837"/>
                </a:lnTo>
                <a:lnTo>
                  <a:pt x="2976837" y="3024778"/>
                </a:lnTo>
                <a:lnTo>
                  <a:pt x="2927741" y="3071522"/>
                </a:lnTo>
                <a:lnTo>
                  <a:pt x="2877505" y="3117053"/>
                </a:lnTo>
                <a:lnTo>
                  <a:pt x="2826175" y="3161331"/>
                </a:lnTo>
                <a:lnTo>
                  <a:pt x="2773765" y="3204342"/>
                </a:lnTo>
                <a:lnTo>
                  <a:pt x="2720324" y="3246048"/>
                </a:lnTo>
                <a:lnTo>
                  <a:pt x="2665867" y="3286436"/>
                </a:lnTo>
                <a:lnTo>
                  <a:pt x="2610444" y="3325469"/>
                </a:lnTo>
                <a:lnTo>
                  <a:pt x="2554071" y="3363136"/>
                </a:lnTo>
                <a:lnTo>
                  <a:pt x="2496799" y="3399403"/>
                </a:lnTo>
                <a:lnTo>
                  <a:pt x="2438646" y="3434259"/>
                </a:lnTo>
                <a:lnTo>
                  <a:pt x="2379664" y="3467672"/>
                </a:lnTo>
                <a:lnTo>
                  <a:pt x="2319870" y="3499633"/>
                </a:lnTo>
                <a:lnTo>
                  <a:pt x="2259319" y="3530111"/>
                </a:lnTo>
                <a:lnTo>
                  <a:pt x="2198029" y="3559099"/>
                </a:lnTo>
                <a:lnTo>
                  <a:pt x="2136056" y="3586570"/>
                </a:lnTo>
                <a:lnTo>
                  <a:pt x="2073418" y="3612515"/>
                </a:lnTo>
                <a:lnTo>
                  <a:pt x="2010172" y="3636912"/>
                </a:lnTo>
                <a:lnTo>
                  <a:pt x="1946336" y="3659753"/>
                </a:lnTo>
                <a:lnTo>
                  <a:pt x="1881968" y="3681018"/>
                </a:lnTo>
                <a:lnTo>
                  <a:pt x="1817088" y="3700699"/>
                </a:lnTo>
                <a:lnTo>
                  <a:pt x="1751754" y="3718779"/>
                </a:lnTo>
                <a:lnTo>
                  <a:pt x="1685987" y="3735253"/>
                </a:lnTo>
                <a:lnTo>
                  <a:pt x="1619845" y="3750105"/>
                </a:lnTo>
                <a:lnTo>
                  <a:pt x="1553349" y="3763332"/>
                </a:lnTo>
                <a:lnTo>
                  <a:pt x="1486558" y="3774922"/>
                </a:lnTo>
                <a:lnTo>
                  <a:pt x="1419492" y="3784870"/>
                </a:lnTo>
                <a:lnTo>
                  <a:pt x="1352213" y="3793168"/>
                </a:lnTo>
                <a:lnTo>
                  <a:pt x="1284740" y="3799814"/>
                </a:lnTo>
                <a:lnTo>
                  <a:pt x="1217135" y="3804801"/>
                </a:lnTo>
                <a:lnTo>
                  <a:pt x="1149418" y="3808127"/>
                </a:lnTo>
                <a:lnTo>
                  <a:pt x="1081649" y="3809791"/>
                </a:lnTo>
                <a:lnTo>
                  <a:pt x="1047749" y="3809999"/>
                </a:lnTo>
                <a:close/>
              </a:path>
            </a:pathLst>
          </a:custGeom>
          <a:solidFill>
            <a:srgbClr val="204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58274" y="3714749"/>
            <a:ext cx="3143250" cy="3143250"/>
          </a:xfrm>
          <a:custGeom>
            <a:avLst/>
            <a:gdLst/>
            <a:ahLst/>
            <a:cxnLst/>
            <a:rect l="l" t="t" r="r" b="b"/>
            <a:pathLst>
              <a:path w="3143250" h="3143250">
                <a:moveTo>
                  <a:pt x="3143250" y="3143250"/>
                </a:moveTo>
                <a:lnTo>
                  <a:pt x="26443" y="3143250"/>
                </a:lnTo>
                <a:lnTo>
                  <a:pt x="25128" y="3133992"/>
                </a:lnTo>
                <a:lnTo>
                  <a:pt x="16830" y="3066713"/>
                </a:lnTo>
                <a:lnTo>
                  <a:pt x="10185" y="2999240"/>
                </a:lnTo>
                <a:lnTo>
                  <a:pt x="5198" y="2931635"/>
                </a:lnTo>
                <a:lnTo>
                  <a:pt x="1871" y="2863917"/>
                </a:lnTo>
                <a:lnTo>
                  <a:pt x="207" y="2796149"/>
                </a:lnTo>
                <a:lnTo>
                  <a:pt x="0" y="2762249"/>
                </a:lnTo>
                <a:lnTo>
                  <a:pt x="207" y="2728349"/>
                </a:lnTo>
                <a:lnTo>
                  <a:pt x="1871" y="2660580"/>
                </a:lnTo>
                <a:lnTo>
                  <a:pt x="5198" y="2592863"/>
                </a:lnTo>
                <a:lnTo>
                  <a:pt x="10185" y="2525258"/>
                </a:lnTo>
                <a:lnTo>
                  <a:pt x="16830" y="2457785"/>
                </a:lnTo>
                <a:lnTo>
                  <a:pt x="25129" y="2390506"/>
                </a:lnTo>
                <a:lnTo>
                  <a:pt x="35077" y="2323441"/>
                </a:lnTo>
                <a:lnTo>
                  <a:pt x="46665" y="2256649"/>
                </a:lnTo>
                <a:lnTo>
                  <a:pt x="59892" y="2190153"/>
                </a:lnTo>
                <a:lnTo>
                  <a:pt x="74745" y="2124011"/>
                </a:lnTo>
                <a:lnTo>
                  <a:pt x="91219" y="2058243"/>
                </a:lnTo>
                <a:lnTo>
                  <a:pt x="109299" y="1992911"/>
                </a:lnTo>
                <a:lnTo>
                  <a:pt x="128980" y="1928031"/>
                </a:lnTo>
                <a:lnTo>
                  <a:pt x="150244" y="1863663"/>
                </a:lnTo>
                <a:lnTo>
                  <a:pt x="173085" y="1799827"/>
                </a:lnTo>
                <a:lnTo>
                  <a:pt x="197482" y="1736580"/>
                </a:lnTo>
                <a:lnTo>
                  <a:pt x="223427" y="1673942"/>
                </a:lnTo>
                <a:lnTo>
                  <a:pt x="250898" y="1611968"/>
                </a:lnTo>
                <a:lnTo>
                  <a:pt x="279886" y="1550679"/>
                </a:lnTo>
                <a:lnTo>
                  <a:pt x="310365" y="1490128"/>
                </a:lnTo>
                <a:lnTo>
                  <a:pt x="342325" y="1430335"/>
                </a:lnTo>
                <a:lnTo>
                  <a:pt x="375739" y="1371352"/>
                </a:lnTo>
                <a:lnTo>
                  <a:pt x="410594" y="1313199"/>
                </a:lnTo>
                <a:lnTo>
                  <a:pt x="446861" y="1255927"/>
                </a:lnTo>
                <a:lnTo>
                  <a:pt x="484528" y="1199554"/>
                </a:lnTo>
                <a:lnTo>
                  <a:pt x="523562" y="1144131"/>
                </a:lnTo>
                <a:lnTo>
                  <a:pt x="563950" y="1089674"/>
                </a:lnTo>
                <a:lnTo>
                  <a:pt x="605656" y="1036233"/>
                </a:lnTo>
                <a:lnTo>
                  <a:pt x="648668" y="983823"/>
                </a:lnTo>
                <a:lnTo>
                  <a:pt x="692945" y="932493"/>
                </a:lnTo>
                <a:lnTo>
                  <a:pt x="738476" y="882257"/>
                </a:lnTo>
                <a:lnTo>
                  <a:pt x="785220" y="833161"/>
                </a:lnTo>
                <a:lnTo>
                  <a:pt x="833161" y="785220"/>
                </a:lnTo>
                <a:lnTo>
                  <a:pt x="882256" y="738477"/>
                </a:lnTo>
                <a:lnTo>
                  <a:pt x="932492" y="692946"/>
                </a:lnTo>
                <a:lnTo>
                  <a:pt x="983824" y="648668"/>
                </a:lnTo>
                <a:lnTo>
                  <a:pt x="1036233" y="605656"/>
                </a:lnTo>
                <a:lnTo>
                  <a:pt x="1089674" y="563950"/>
                </a:lnTo>
                <a:lnTo>
                  <a:pt x="1144130" y="523562"/>
                </a:lnTo>
                <a:lnTo>
                  <a:pt x="1199553" y="484529"/>
                </a:lnTo>
                <a:lnTo>
                  <a:pt x="1255926" y="446861"/>
                </a:lnTo>
                <a:lnTo>
                  <a:pt x="1313198" y="410595"/>
                </a:lnTo>
                <a:lnTo>
                  <a:pt x="1371351" y="375739"/>
                </a:lnTo>
                <a:lnTo>
                  <a:pt x="1430333" y="342326"/>
                </a:lnTo>
                <a:lnTo>
                  <a:pt x="1490127" y="310366"/>
                </a:lnTo>
                <a:lnTo>
                  <a:pt x="1550677" y="279887"/>
                </a:lnTo>
                <a:lnTo>
                  <a:pt x="1611967" y="250899"/>
                </a:lnTo>
                <a:lnTo>
                  <a:pt x="1673941" y="223428"/>
                </a:lnTo>
                <a:lnTo>
                  <a:pt x="1736578" y="197482"/>
                </a:lnTo>
                <a:lnTo>
                  <a:pt x="1799825" y="173085"/>
                </a:lnTo>
                <a:lnTo>
                  <a:pt x="1863662" y="150245"/>
                </a:lnTo>
                <a:lnTo>
                  <a:pt x="1928029" y="128981"/>
                </a:lnTo>
                <a:lnTo>
                  <a:pt x="1992909" y="109299"/>
                </a:lnTo>
                <a:lnTo>
                  <a:pt x="2058242" y="91219"/>
                </a:lnTo>
                <a:lnTo>
                  <a:pt x="2124010" y="74745"/>
                </a:lnTo>
                <a:lnTo>
                  <a:pt x="2190151" y="59893"/>
                </a:lnTo>
                <a:lnTo>
                  <a:pt x="2256648" y="46666"/>
                </a:lnTo>
                <a:lnTo>
                  <a:pt x="2323440" y="35076"/>
                </a:lnTo>
                <a:lnTo>
                  <a:pt x="2390506" y="25128"/>
                </a:lnTo>
                <a:lnTo>
                  <a:pt x="2457786" y="16830"/>
                </a:lnTo>
                <a:lnTo>
                  <a:pt x="2525258" y="10185"/>
                </a:lnTo>
                <a:lnTo>
                  <a:pt x="2592863" y="5198"/>
                </a:lnTo>
                <a:lnTo>
                  <a:pt x="2660580" y="1871"/>
                </a:lnTo>
                <a:lnTo>
                  <a:pt x="2728349" y="207"/>
                </a:lnTo>
                <a:lnTo>
                  <a:pt x="2762249" y="0"/>
                </a:lnTo>
                <a:lnTo>
                  <a:pt x="2796139" y="207"/>
                </a:lnTo>
                <a:lnTo>
                  <a:pt x="2863908" y="1871"/>
                </a:lnTo>
                <a:lnTo>
                  <a:pt x="2931630" y="5198"/>
                </a:lnTo>
                <a:lnTo>
                  <a:pt x="2999237" y="10185"/>
                </a:lnTo>
                <a:lnTo>
                  <a:pt x="3066713" y="16830"/>
                </a:lnTo>
                <a:lnTo>
                  <a:pt x="3133992" y="25128"/>
                </a:lnTo>
                <a:lnTo>
                  <a:pt x="3143250" y="26443"/>
                </a:lnTo>
                <a:lnTo>
                  <a:pt x="3143250" y="3143250"/>
                </a:lnTo>
                <a:close/>
              </a:path>
            </a:pathLst>
          </a:custGeom>
          <a:solidFill>
            <a:srgbClr val="204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415925"/>
            <a:ext cx="10896600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499" y="1628774"/>
            <a:ext cx="5381625" cy="363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A7D9D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7700" y="1754879"/>
            <a:ext cx="9390013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8590" marR="5080" indent="-2676525" algn="ctr">
              <a:lnSpc>
                <a:spcPct val="100000"/>
              </a:lnSpc>
              <a:spcBef>
                <a:spcPts val="100"/>
              </a:spcBef>
              <a:tabLst>
                <a:tab pos="8130540" algn="l"/>
              </a:tabLst>
            </a:pPr>
            <a:r>
              <a:rPr lang="es-ES" sz="8800" b="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PROGRAMACION</a:t>
            </a:r>
            <a:endParaRPr sz="52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8350" y="4419600"/>
            <a:ext cx="5038726" cy="13542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Integrantes del grupo: 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DYLAN NIEVEZ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ANGELO REYES </a:t>
            </a:r>
            <a:endParaRPr lang="es-ES" sz="24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3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950" y="144251"/>
            <a:ext cx="8000999" cy="612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pc="110" dirty="0">
                <a:solidFill>
                  <a:schemeClr val="tx1"/>
                </a:solidFill>
                <a:latin typeface="Arial"/>
                <a:cs typeface="Arial"/>
              </a:rPr>
              <a:t>TABLA</a:t>
            </a:r>
            <a:r>
              <a:rPr spc="2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110" dirty="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spc="45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CONTENIDOS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9129" y="912097"/>
            <a:ext cx="783111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C" sz="2800" b="1" i="0" dirty="0">
                <a:solidFill>
                  <a:srgbClr val="273540"/>
                </a:solidFill>
                <a:effectLst/>
                <a:latin typeface="LatoWeb"/>
              </a:rPr>
              <a:t>Investigación Pandas</a:t>
            </a:r>
            <a:endParaRPr lang="es-E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7249" y="2305049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3000374" y="9524"/>
                </a:moveTo>
                <a:lnTo>
                  <a:pt x="0" y="9524"/>
                </a:lnTo>
                <a:lnTo>
                  <a:pt x="0" y="0"/>
                </a:lnTo>
                <a:lnTo>
                  <a:pt x="3000374" y="0"/>
                </a:lnTo>
                <a:lnTo>
                  <a:pt x="3000374" y="9524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7249" y="2686049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3000374" y="9524"/>
                </a:moveTo>
                <a:lnTo>
                  <a:pt x="0" y="9524"/>
                </a:lnTo>
                <a:lnTo>
                  <a:pt x="0" y="0"/>
                </a:lnTo>
                <a:lnTo>
                  <a:pt x="3000374" y="0"/>
                </a:lnTo>
                <a:lnTo>
                  <a:pt x="3000374" y="9524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89951" y="2754312"/>
            <a:ext cx="5212399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C" b="1" i="0" dirty="0">
                <a:solidFill>
                  <a:srgbClr val="273540"/>
                </a:solidFill>
                <a:effectLst/>
                <a:latin typeface="LatoWeb"/>
              </a:rPr>
              <a:t>¿Cómo se utiliza / implementa?</a:t>
            </a:r>
            <a:endParaRPr lang="es-E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7249" y="3076574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3000374" y="9524"/>
                </a:moveTo>
                <a:lnTo>
                  <a:pt x="0" y="9524"/>
                </a:lnTo>
                <a:lnTo>
                  <a:pt x="0" y="0"/>
                </a:lnTo>
                <a:lnTo>
                  <a:pt x="3000374" y="0"/>
                </a:lnTo>
                <a:lnTo>
                  <a:pt x="3000374" y="9524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7249" y="3457574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3000374" y="9524"/>
                </a:moveTo>
                <a:lnTo>
                  <a:pt x="0" y="9524"/>
                </a:lnTo>
                <a:lnTo>
                  <a:pt x="0" y="0"/>
                </a:lnTo>
                <a:lnTo>
                  <a:pt x="3000374" y="0"/>
                </a:lnTo>
                <a:lnTo>
                  <a:pt x="3000374" y="9524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3075" y="1848485"/>
            <a:ext cx="259079" cy="1961434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50" spc="-25" dirty="0">
                <a:solidFill>
                  <a:schemeClr val="tx1"/>
                </a:solidFill>
                <a:latin typeface="Arial"/>
                <a:cs typeface="Arial"/>
              </a:rPr>
              <a:t>01</a:t>
            </a:r>
            <a:endParaRPr sz="16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50" spc="-25" dirty="0">
                <a:solidFill>
                  <a:schemeClr val="tx1"/>
                </a:solidFill>
                <a:latin typeface="Arial"/>
                <a:cs typeface="Arial"/>
              </a:rPr>
              <a:t>02</a:t>
            </a:r>
            <a:endParaRPr sz="16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650" spc="-25" dirty="0">
                <a:solidFill>
                  <a:schemeClr val="tx1"/>
                </a:solidFill>
                <a:latin typeface="Arial"/>
                <a:cs typeface="Arial"/>
              </a:rPr>
              <a:t>03</a:t>
            </a:r>
            <a:endParaRPr lang="es-ES" sz="1650" spc="-25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lang="es-EC" sz="1650" spc="-25" dirty="0">
                <a:solidFill>
                  <a:schemeClr val="tx1"/>
                </a:solidFill>
                <a:latin typeface="Arial"/>
                <a:cs typeface="Arial"/>
              </a:rPr>
              <a:t>04</a:t>
            </a:r>
            <a:endParaRPr sz="16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endParaRPr sz="16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4570" y="2022474"/>
            <a:ext cx="3491380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C" i="0" dirty="0">
                <a:solidFill>
                  <a:schemeClr val="tx1"/>
                </a:solidFill>
                <a:effectLst/>
                <a:latin typeface="LatoWeb"/>
              </a:rPr>
              <a:t>¿</a:t>
            </a:r>
            <a:r>
              <a:rPr lang="es-EC" b="1" i="0" dirty="0">
                <a:solidFill>
                  <a:schemeClr val="tx1"/>
                </a:solidFill>
                <a:effectLst/>
                <a:latin typeface="LatoWeb"/>
              </a:rPr>
              <a:t>Qué es? </a:t>
            </a:r>
            <a:endParaRPr lang="es-E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5598995-34F3-4E69-8F8A-E86963360E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705848" y="2426740"/>
            <a:ext cx="8277679" cy="3705742"/>
          </a:xfrm>
          <a:prstGeom prst="rect">
            <a:avLst/>
          </a:prstGeom>
        </p:spPr>
      </p:pic>
      <p:sp>
        <p:nvSpPr>
          <p:cNvPr id="37" name="object 33">
            <a:extLst>
              <a:ext uri="{FF2B5EF4-FFF2-40B4-BE49-F238E27FC236}">
                <a16:creationId xmlns:a16="http://schemas.microsoft.com/office/drawing/2014/main" id="{007461E8-29DF-4925-96AB-2261F2FA88FC}"/>
              </a:ext>
            </a:extLst>
          </p:cNvPr>
          <p:cNvSpPr txBox="1"/>
          <p:nvPr/>
        </p:nvSpPr>
        <p:spPr>
          <a:xfrm>
            <a:off x="923607" y="2374683"/>
            <a:ext cx="3349943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C" b="1" i="0" dirty="0">
                <a:solidFill>
                  <a:srgbClr val="273540"/>
                </a:solidFill>
                <a:effectLst/>
                <a:latin typeface="LatoWeb"/>
              </a:rPr>
              <a:t>¿Para qué sirve?</a:t>
            </a:r>
            <a:endParaRPr lang="es-E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4DAFC5C6-630E-4182-90C9-0F35FBCBC58F}"/>
              </a:ext>
            </a:extLst>
          </p:cNvPr>
          <p:cNvSpPr txBox="1"/>
          <p:nvPr/>
        </p:nvSpPr>
        <p:spPr>
          <a:xfrm>
            <a:off x="857249" y="3105943"/>
            <a:ext cx="5212399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b="1" i="0" dirty="0">
                <a:solidFill>
                  <a:srgbClr val="273540"/>
                </a:solidFill>
                <a:effectLst/>
                <a:latin typeface="LatoWeb"/>
              </a:rPr>
              <a:t>2 ejemplos de implementación aplicada</a:t>
            </a:r>
            <a:endParaRPr lang="es-E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938" y="0"/>
            <a:ext cx="12192000" cy="7248525"/>
          </a:xfrm>
          <a:custGeom>
            <a:avLst/>
            <a:gdLst/>
            <a:ahLst/>
            <a:cxnLst/>
            <a:rect l="l" t="t" r="r" b="b"/>
            <a:pathLst>
              <a:path w="12192000" h="7248525">
                <a:moveTo>
                  <a:pt x="12191999" y="7248524"/>
                </a:moveTo>
                <a:lnTo>
                  <a:pt x="0" y="7248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48524"/>
                </a:lnTo>
                <a:close/>
              </a:path>
            </a:pathLst>
          </a:custGeom>
          <a:solidFill>
            <a:srgbClr val="3B697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C9D8025-0E81-41EC-8A3F-89063CEF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49" y="415925"/>
            <a:ext cx="10896600" cy="1200329"/>
          </a:xfrm>
        </p:spPr>
        <p:txBody>
          <a:bodyPr/>
          <a:lstStyle/>
          <a:p>
            <a:pPr algn="ctr"/>
            <a:r>
              <a:rPr lang="es-EC" i="0" dirty="0">
                <a:solidFill>
                  <a:schemeClr val="tx1"/>
                </a:solidFill>
                <a:effectLst/>
                <a:latin typeface="LatoWeb"/>
              </a:rPr>
              <a:t>¿</a:t>
            </a:r>
            <a:r>
              <a:rPr lang="es-EC" b="1" i="0" dirty="0">
                <a:solidFill>
                  <a:schemeClr val="tx1"/>
                </a:solidFill>
                <a:effectLst/>
                <a:latin typeface="LatoWeb"/>
              </a:rPr>
              <a:t>Qué es? </a:t>
            </a:r>
            <a:br>
              <a:rPr lang="es-E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C" dirty="0"/>
          </a:p>
        </p:txBody>
      </p:sp>
      <p:sp>
        <p:nvSpPr>
          <p:cNvPr id="5" name="object 5"/>
          <p:cNvSpPr txBox="1"/>
          <p:nvPr/>
        </p:nvSpPr>
        <p:spPr>
          <a:xfrm>
            <a:off x="749299" y="3044825"/>
            <a:ext cx="292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A7D9DB"/>
                </a:solidFill>
                <a:latin typeface="Century Gothic"/>
                <a:cs typeface="Century Gothic"/>
              </a:rPr>
              <a:t></a:t>
            </a:r>
            <a:endParaRPr sz="2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3131" y="1995969"/>
            <a:ext cx="45110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s-ES" sz="3200" b="1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es-ES" sz="3200" b="1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200" b="1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508BFB-0CD6-4333-863B-7A80C5C1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2047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A4F1940-1C3D-4846-85F5-FBAC03DAE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22149"/>
            <a:ext cx="65" cy="853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FF1EDD9-9FA0-45CA-B60D-D12146B704C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3131" y="2314126"/>
            <a:ext cx="5050632" cy="3900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es una biblioteca de código abierto construida sobre el lenguaje de programación Python, diseñada específicamente para la manipulación y el análisis de datos. Proporciona estructuras de datos flexibles, rápidas y expresivas diseñadas para trabajar con datos estructurados (relacionales o etiquetados) de manera intuitiva. Sus estructuras principales son la Series (unidimensionales, similar a una columna) y el </a:t>
            </a:r>
            <a:r>
              <a:rPr kumimoji="0" lang="es-ES" altLang="es-EC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s-ES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(bidimensional, similar a una tabla de base de datos o una hoja de cálculo de Excel).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809380-CECD-4D6F-A833-8EF81E17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550" y="2249860"/>
            <a:ext cx="4895851" cy="37959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2149"/>
            <a:ext cx="12192000" cy="7248525"/>
          </a:xfrm>
          <a:custGeom>
            <a:avLst/>
            <a:gdLst/>
            <a:ahLst/>
            <a:cxnLst/>
            <a:rect l="l" t="t" r="r" b="b"/>
            <a:pathLst>
              <a:path w="12192000" h="7248525">
                <a:moveTo>
                  <a:pt x="12191999" y="7248524"/>
                </a:moveTo>
                <a:lnTo>
                  <a:pt x="0" y="7248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48524"/>
                </a:lnTo>
                <a:close/>
              </a:path>
            </a:pathLst>
          </a:custGeom>
          <a:solidFill>
            <a:srgbClr val="3B697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C9D8025-0E81-41EC-8A3F-89063CEF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49" y="415925"/>
            <a:ext cx="10896600" cy="1200329"/>
          </a:xfrm>
        </p:spPr>
        <p:txBody>
          <a:bodyPr/>
          <a:lstStyle/>
          <a:p>
            <a:pPr algn="ctr"/>
            <a:r>
              <a:rPr lang="es-EC" i="0" dirty="0">
                <a:solidFill>
                  <a:schemeClr val="tx1"/>
                </a:solidFill>
                <a:effectLst/>
                <a:latin typeface="LatoWeb"/>
              </a:rPr>
              <a:t>¿Para qué sirve?</a:t>
            </a:r>
            <a:br>
              <a:rPr lang="es-E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C" dirty="0"/>
          </a:p>
        </p:txBody>
      </p:sp>
      <p:sp>
        <p:nvSpPr>
          <p:cNvPr id="5" name="object 5"/>
          <p:cNvSpPr txBox="1"/>
          <p:nvPr/>
        </p:nvSpPr>
        <p:spPr>
          <a:xfrm>
            <a:off x="749299" y="3044825"/>
            <a:ext cx="292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A7D9DB"/>
                </a:solidFill>
                <a:latin typeface="Century Gothic"/>
                <a:cs typeface="Century Gothic"/>
              </a:rPr>
              <a:t></a:t>
            </a:r>
            <a:endParaRPr sz="2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1403" y="1560071"/>
            <a:ext cx="45110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s-ES" sz="3200" b="1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es-ES" sz="3200" b="1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ES" sz="1200" b="1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299" y="4330700"/>
            <a:ext cx="292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A7D9DB"/>
                </a:solidFill>
                <a:latin typeface="Century Gothic"/>
                <a:cs typeface="Century Gothic"/>
              </a:rPr>
              <a:t>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A4F1940-1C3D-4846-85F5-FBAC03DAE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22149"/>
            <a:ext cx="65" cy="853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FF1EDD9-9FA0-45CA-B60D-D12146B704C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1718" y="1778653"/>
            <a:ext cx="10896470" cy="3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Pandas sirve para resolver tareas comunes en el procesamiento de datos dentro de proyectos de ingeniería, ciencia de datos y análisis financiero o administrativo. Sus funciones principales incluyen: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Limpieza y preparación de datos: Manejo de valores faltantes (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NaN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), duplicados, filtrado y transformación de tipos de datos.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Lectura y escritura de datos: Importación y exportación de información desde múltiples formatos como CSV, Excel, JSON, SQL y bases de datos.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Manipulación avanzada: Operaciones de agrupación (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groupby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), uniones (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merge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, 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join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), tablas dinámicas (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pivot_table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) y ordenamiento.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Análisis estadístico básico: Cálculo rápido de medias, medianas, desviaciones estándar y correlaciones.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23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96" y="-117600"/>
            <a:ext cx="12192000" cy="7248525"/>
          </a:xfrm>
          <a:custGeom>
            <a:avLst/>
            <a:gdLst/>
            <a:ahLst/>
            <a:cxnLst/>
            <a:rect l="l" t="t" r="r" b="b"/>
            <a:pathLst>
              <a:path w="12192000" h="7248525">
                <a:moveTo>
                  <a:pt x="12191999" y="7248524"/>
                </a:moveTo>
                <a:lnTo>
                  <a:pt x="0" y="7248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48524"/>
                </a:lnTo>
                <a:close/>
              </a:path>
            </a:pathLst>
          </a:custGeom>
          <a:solidFill>
            <a:srgbClr val="3B697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C9D8025-0E81-41EC-8A3F-89063CEF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49" y="415925"/>
            <a:ext cx="10896600" cy="1215717"/>
          </a:xfrm>
        </p:spPr>
        <p:txBody>
          <a:bodyPr/>
          <a:lstStyle/>
          <a:p>
            <a:pPr algn="ctr"/>
            <a:r>
              <a:rPr lang="es-EC" sz="4000" b="1" i="0" dirty="0">
                <a:solidFill>
                  <a:srgbClr val="1F1F1F"/>
                </a:solidFill>
                <a:effectLst/>
                <a:latin typeface="Google Sans Text"/>
              </a:rPr>
              <a:t>¿ Como se utiliza / implementa?</a:t>
            </a:r>
            <a:br>
              <a:rPr lang="es-ES" sz="40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C" dirty="0"/>
          </a:p>
        </p:txBody>
      </p:sp>
      <p:sp>
        <p:nvSpPr>
          <p:cNvPr id="5" name="object 5"/>
          <p:cNvSpPr txBox="1"/>
          <p:nvPr/>
        </p:nvSpPr>
        <p:spPr>
          <a:xfrm>
            <a:off x="749299" y="3044825"/>
            <a:ext cx="292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A7D9DB"/>
                </a:solidFill>
                <a:latin typeface="Century Gothic"/>
                <a:cs typeface="Century Gothic"/>
              </a:rPr>
              <a:t></a:t>
            </a:r>
            <a:endParaRPr sz="21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299" y="4330700"/>
            <a:ext cx="292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A7D9DB"/>
                </a:solidFill>
                <a:latin typeface="Century Gothic"/>
                <a:cs typeface="Century Gothic"/>
              </a:rPr>
              <a:t>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A4F1940-1C3D-4846-85F5-FBAC03DAE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22149"/>
            <a:ext cx="65" cy="853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FF1EDD9-9FA0-45CA-B60D-D12146B704C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33778" y="979488"/>
            <a:ext cx="5660232" cy="5809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Instalación e importación: Se añade al entorno mediante el gestor de paquetes (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pip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install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 pandas) y se importa en el código utilizando el alias estándar 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import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 pandas as 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pd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Uso de estructuras principales: Se implementa utilizando sus dos componentes fundamentales: las Series (arreglos unidimensionales o columnas) y los 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DataFrames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 (tablas bidimensionales con filas y columnas).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Carga de datos: Se alimenta de fuentes externas (como archivos CSV, Excel o bases de datos) mediante funciones integradas como 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pd.read_csv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().</a:t>
            </a:r>
          </a:p>
          <a:p>
            <a:pPr algn="l"/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Procesamiento y análisis: Se ejecutan sus métodos optimizados para filtrar registros, agrupar datos (</a:t>
            </a:r>
            <a:r>
              <a:rPr lang="es-ES" sz="2000" b="0" i="0" dirty="0" err="1">
                <a:solidFill>
                  <a:srgbClr val="1F1F1F"/>
                </a:solidFill>
                <a:effectLst/>
                <a:latin typeface="Google Sans Text"/>
              </a:rPr>
              <a:t>groupby</a:t>
            </a:r>
            <a:r>
              <a:rPr lang="es-ES" sz="2000" b="0" i="0" dirty="0">
                <a:solidFill>
                  <a:srgbClr val="1F1F1F"/>
                </a:solidFill>
                <a:effectLst/>
                <a:latin typeface="Google Sans Text"/>
              </a:rPr>
              <a:t>), limpiar valores nulos y realizar cálculos estadísticos de forma directa sin necesidad de bucles complejos.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9A84198-0AEB-4E7F-A6DE-A253F2F3A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824" y="1524000"/>
            <a:ext cx="5258236" cy="43056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188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BD57F2F-C39E-4AD7-A9B6-6C0CC6B1D4DB}"/>
              </a:ext>
            </a:extLst>
          </p:cNvPr>
          <p:cNvSpPr/>
          <p:nvPr/>
        </p:nvSpPr>
        <p:spPr>
          <a:xfrm>
            <a:off x="-7938" y="0"/>
            <a:ext cx="12192000" cy="7248525"/>
          </a:xfrm>
          <a:custGeom>
            <a:avLst/>
            <a:gdLst/>
            <a:ahLst/>
            <a:cxnLst/>
            <a:rect l="l" t="t" r="r" b="b"/>
            <a:pathLst>
              <a:path w="12192000" h="7248525">
                <a:moveTo>
                  <a:pt x="12191999" y="7248524"/>
                </a:moveTo>
                <a:lnTo>
                  <a:pt x="0" y="7248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48524"/>
                </a:lnTo>
                <a:close/>
              </a:path>
            </a:pathLst>
          </a:custGeom>
          <a:solidFill>
            <a:srgbClr val="3B697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F8CDE4-BB96-427E-882E-FD091CCF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Ejemplo</a:t>
            </a:r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B8C2D4-E13C-4B7D-A5E1-82A29D59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40" y="1295400"/>
            <a:ext cx="9209820" cy="49373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11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BD57F2F-C39E-4AD7-A9B6-6C0CC6B1D4DB}"/>
              </a:ext>
            </a:extLst>
          </p:cNvPr>
          <p:cNvSpPr/>
          <p:nvPr/>
        </p:nvSpPr>
        <p:spPr>
          <a:xfrm>
            <a:off x="-7938" y="0"/>
            <a:ext cx="12192000" cy="7248525"/>
          </a:xfrm>
          <a:custGeom>
            <a:avLst/>
            <a:gdLst/>
            <a:ahLst/>
            <a:cxnLst/>
            <a:rect l="l" t="t" r="r" b="b"/>
            <a:pathLst>
              <a:path w="12192000" h="7248525">
                <a:moveTo>
                  <a:pt x="12191999" y="7248524"/>
                </a:moveTo>
                <a:lnTo>
                  <a:pt x="0" y="7248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48524"/>
                </a:lnTo>
                <a:close/>
              </a:path>
            </a:pathLst>
          </a:custGeom>
          <a:solidFill>
            <a:srgbClr val="3B697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F8CDE4-BB96-427E-882E-FD091CCF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Ejemplo</a:t>
            </a:r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3255D9-E906-4740-9E96-72426E57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0" y="1451610"/>
            <a:ext cx="9448800" cy="47405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97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</TotalTime>
  <Words>404</Words>
  <Application>Microsoft Office PowerPoint</Application>
  <PresentationFormat>Personalizado</PresentationFormat>
  <Paragraphs>36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Google Sans Text</vt:lpstr>
      <vt:lpstr>LatoWeb</vt:lpstr>
      <vt:lpstr>Times New Roman</vt:lpstr>
      <vt:lpstr>Office Theme</vt:lpstr>
      <vt:lpstr>PROGRAMACION</vt:lpstr>
      <vt:lpstr>TABLA DE CONTENIDOS</vt:lpstr>
      <vt:lpstr>¿Qué es?  </vt:lpstr>
      <vt:lpstr>¿Para qué sirve? </vt:lpstr>
      <vt:lpstr>¿ Como se utiliza / implementa? </vt:lpstr>
      <vt:lpstr>Ejemplo</vt:lpstr>
      <vt:lpstr>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CENTROIDES Y CENTROS DE GRAVEDAD</dc:title>
  <dc:creator>Vicente Ortiz</dc:creator>
  <cp:lastModifiedBy>angelo guillermo reyes lucas</cp:lastModifiedBy>
  <cp:revision>36</cp:revision>
  <cp:lastPrinted>2026-02-12T03:59:40Z</cp:lastPrinted>
  <dcterms:created xsi:type="dcterms:W3CDTF">2026-01-07T04:29:04Z</dcterms:created>
  <dcterms:modified xsi:type="dcterms:W3CDTF">2026-08-12T02:21:08Z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Creator">
    <vt:lpwstr>Chromium</vt:lpwstr>
  </property>
  <property fmtid="{D5CDD505-2E9C-101B-9397-08002B2CF9AE}" pid="4" name="LastSaved">
    <vt:filetime>2026-01-07T00:00:00Z</vt:filetime>
  </property>
  <property fmtid="{D5CDD505-2E9C-101B-9397-08002B2CF9AE}" pid="5" name="Producer">
    <vt:lpwstr>pdfcpu v0.11.0 dev</vt:lpwstr>
  </property>
</Properties>
</file>